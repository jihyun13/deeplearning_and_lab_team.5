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D5D5"/>
    <a:srgbClr val="E7F2FF"/>
    <a:srgbClr val="F6F8F8"/>
    <a:srgbClr val="6DB3FF"/>
    <a:srgbClr val="00428E"/>
    <a:srgbClr val="2DA59A"/>
    <a:srgbClr val="12887B"/>
    <a:srgbClr val="0F110E"/>
    <a:srgbClr val="848683"/>
    <a:srgbClr val="B8E7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60" autoAdjust="0"/>
    <p:restoredTop sz="94660"/>
  </p:normalViewPr>
  <p:slideViewPr>
    <p:cSldViewPr snapToGrid="0">
      <p:cViewPr>
        <p:scale>
          <a:sx n="25" d="100"/>
          <a:sy n="25" d="100"/>
        </p:scale>
        <p:origin x="286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B21F2-1B67-4098-B8FB-7BDD7FAFA696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CABAF-4604-44A1-9E81-708206FBBB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4981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1CABAF-4604-44A1-9E81-708206FBBB9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46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327E-1882-4BB9-BDAD-1A6731EEDA67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9CE6B-7511-4D6E-9C1B-04F7FDEF01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938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327E-1882-4BB9-BDAD-1A6731EEDA67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9CE6B-7511-4D6E-9C1B-04F7FDEF01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733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>
                    <a:tint val="82000"/>
                  </a:schemeClr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82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82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327E-1882-4BB9-BDAD-1A6731EEDA67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9CE6B-7511-4D6E-9C1B-04F7FDEF01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598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327E-1882-4BB9-BDAD-1A6731EEDA67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9CE6B-7511-4D6E-9C1B-04F7FDEF01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434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327E-1882-4BB9-BDAD-1A6731EEDA67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9CE6B-7511-4D6E-9C1B-04F7FDEF01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59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327E-1882-4BB9-BDAD-1A6731EEDA67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9CE6B-7511-4D6E-9C1B-04F7FDEF01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863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327E-1882-4BB9-BDAD-1A6731EEDA67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9CE6B-7511-4D6E-9C1B-04F7FDEF01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94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327E-1882-4BB9-BDAD-1A6731EEDA67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9CE6B-7511-4D6E-9C1B-04F7FDEF01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798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327E-1882-4BB9-BDAD-1A6731EEDA67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9CE6B-7511-4D6E-9C1B-04F7FDEF01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2420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327E-1882-4BB9-BDAD-1A6731EEDA67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9CE6B-7511-4D6E-9C1B-04F7FDEF01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586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327E-1882-4BB9-BDAD-1A6731EEDA67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9CE6B-7511-4D6E-9C1B-04F7FDEF01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960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01327E-1882-4BB9-BDAD-1A6731EEDA67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C9CE6B-7511-4D6E-9C1B-04F7FDEF01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2071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1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1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8A113B3-832B-5364-8C99-5B52F12F5A7A}"/>
              </a:ext>
            </a:extLst>
          </p:cNvPr>
          <p:cNvSpPr/>
          <p:nvPr/>
        </p:nvSpPr>
        <p:spPr>
          <a:xfrm>
            <a:off x="0" y="0"/>
            <a:ext cx="21383625" cy="3309257"/>
          </a:xfrm>
          <a:prstGeom prst="rect">
            <a:avLst/>
          </a:prstGeom>
          <a:solidFill>
            <a:srgbClr val="E7F2FF"/>
          </a:solidFill>
          <a:ln>
            <a:solidFill>
              <a:srgbClr val="F6F8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27DE169-EAF3-886B-2C2B-9C58B0B138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77391" y="3475875"/>
            <a:ext cx="10835437" cy="21312913"/>
          </a:xfrm>
          <a:prstGeom prst="roundRect">
            <a:avLst>
              <a:gd name="adj" fmla="val 4966"/>
            </a:avLst>
          </a:prstGeom>
          <a:solidFill>
            <a:schemeClr val="bg1"/>
          </a:solidFill>
          <a:ln w="57150">
            <a:solidFill>
              <a:srgbClr val="8486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69D4C2A-FE3B-38EC-1460-8D63CE4553F3}"/>
              </a:ext>
            </a:extLst>
          </p:cNvPr>
          <p:cNvSpPr/>
          <p:nvPr/>
        </p:nvSpPr>
        <p:spPr>
          <a:xfrm>
            <a:off x="170797" y="17254847"/>
            <a:ext cx="10051461" cy="12666881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57150">
            <a:solidFill>
              <a:srgbClr val="8486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8ACDADE-7F0C-5966-9761-A4E30C92A7E9}"/>
              </a:ext>
            </a:extLst>
          </p:cNvPr>
          <p:cNvSpPr/>
          <p:nvPr/>
        </p:nvSpPr>
        <p:spPr>
          <a:xfrm>
            <a:off x="10377391" y="24956438"/>
            <a:ext cx="10835437" cy="5022754"/>
          </a:xfrm>
          <a:prstGeom prst="roundRect">
            <a:avLst>
              <a:gd name="adj" fmla="val 10123"/>
            </a:avLst>
          </a:prstGeom>
          <a:solidFill>
            <a:schemeClr val="bg1"/>
          </a:solidFill>
          <a:ln w="57150">
            <a:solidFill>
              <a:srgbClr val="8486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EE5DB84-9687-1DFE-F132-5A26E2FE3A24}"/>
              </a:ext>
            </a:extLst>
          </p:cNvPr>
          <p:cNvCxnSpPr/>
          <p:nvPr/>
        </p:nvCxnSpPr>
        <p:spPr>
          <a:xfrm>
            <a:off x="170797" y="18365299"/>
            <a:ext cx="10051461" cy="0"/>
          </a:xfrm>
          <a:prstGeom prst="line">
            <a:avLst/>
          </a:prstGeom>
          <a:ln w="57150">
            <a:solidFill>
              <a:srgbClr val="8486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1CE9F61-25EF-5494-4BB1-016E4CE651AC}"/>
              </a:ext>
            </a:extLst>
          </p:cNvPr>
          <p:cNvCxnSpPr>
            <a:cxnSpLocks/>
          </p:cNvCxnSpPr>
          <p:nvPr/>
        </p:nvCxnSpPr>
        <p:spPr>
          <a:xfrm>
            <a:off x="10377391" y="26117098"/>
            <a:ext cx="10835437" cy="0"/>
          </a:xfrm>
          <a:prstGeom prst="line">
            <a:avLst/>
          </a:prstGeom>
          <a:ln w="57150">
            <a:solidFill>
              <a:srgbClr val="8486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B301B6DF-ED59-E70C-ECCC-0B46752784C7}"/>
              </a:ext>
            </a:extLst>
          </p:cNvPr>
          <p:cNvCxnSpPr>
            <a:cxnSpLocks/>
          </p:cNvCxnSpPr>
          <p:nvPr/>
        </p:nvCxnSpPr>
        <p:spPr>
          <a:xfrm>
            <a:off x="10382678" y="4652213"/>
            <a:ext cx="10796827" cy="0"/>
          </a:xfrm>
          <a:prstGeom prst="line">
            <a:avLst/>
          </a:prstGeom>
          <a:ln w="57150">
            <a:solidFill>
              <a:srgbClr val="8486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A178E629-1B23-E460-D193-24486370B0BD}"/>
              </a:ext>
            </a:extLst>
          </p:cNvPr>
          <p:cNvGrpSpPr/>
          <p:nvPr/>
        </p:nvGrpSpPr>
        <p:grpSpPr>
          <a:xfrm>
            <a:off x="170797" y="3475876"/>
            <a:ext cx="10051461" cy="4850938"/>
            <a:chOff x="170797" y="3475876"/>
            <a:chExt cx="10051461" cy="6734924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5162498B-F65B-2E6D-BC44-3A3CE5A19D1B}"/>
                </a:ext>
              </a:extLst>
            </p:cNvPr>
            <p:cNvSpPr/>
            <p:nvPr/>
          </p:nvSpPr>
          <p:spPr>
            <a:xfrm>
              <a:off x="170797" y="3475876"/>
              <a:ext cx="10051461" cy="6734924"/>
            </a:xfrm>
            <a:prstGeom prst="roundRect">
              <a:avLst>
                <a:gd name="adj" fmla="val 7475"/>
              </a:avLst>
            </a:prstGeom>
            <a:solidFill>
              <a:schemeClr val="bg1"/>
            </a:solidFill>
            <a:ln w="57150">
              <a:solidFill>
                <a:srgbClr val="8486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F1E1C7D3-7500-BEAE-A503-AA4F5DBF4EC8}"/>
                </a:ext>
              </a:extLst>
            </p:cNvPr>
            <p:cNvCxnSpPr/>
            <p:nvPr/>
          </p:nvCxnSpPr>
          <p:spPr>
            <a:xfrm>
              <a:off x="170797" y="4933302"/>
              <a:ext cx="10051461" cy="0"/>
            </a:xfrm>
            <a:prstGeom prst="line">
              <a:avLst/>
            </a:prstGeom>
            <a:ln w="57150">
              <a:solidFill>
                <a:srgbClr val="84868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4051CE8-0575-E95C-3976-49C61024A8E3}"/>
                </a:ext>
              </a:extLst>
            </p:cNvPr>
            <p:cNvSpPr txBox="1"/>
            <p:nvPr/>
          </p:nvSpPr>
          <p:spPr>
            <a:xfrm>
              <a:off x="2581626" y="3712851"/>
              <a:ext cx="5229800" cy="8393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4800" b="1" dirty="0">
                  <a:ea typeface="Noto Sans KR" panose="020B0200000000000000" pitchFamily="50" charset="-127"/>
                </a:rPr>
                <a:t>1. INTRODICTION</a:t>
              </a:r>
              <a:endParaRPr lang="ko-KR" altLang="en-US" sz="4800" b="1" dirty="0">
                <a:ea typeface="Noto Sans KR" panose="020B0200000000000000" pitchFamily="50" charset="-127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F8CE296-AA52-6755-AE16-1AA6213839F6}"/>
              </a:ext>
            </a:extLst>
          </p:cNvPr>
          <p:cNvSpPr txBox="1"/>
          <p:nvPr/>
        </p:nvSpPr>
        <p:spPr>
          <a:xfrm>
            <a:off x="14547012" y="3622168"/>
            <a:ext cx="24961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800" b="1" dirty="0">
                <a:ea typeface="Noto Sans KR" panose="020B0200000000000000" pitchFamily="50" charset="-127"/>
              </a:rPr>
              <a:t>4. CODE</a:t>
            </a:r>
            <a:endParaRPr lang="ko-KR" altLang="en-US" sz="4800" b="1" dirty="0">
              <a:ea typeface="Noto Sans KR" panose="020B0200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B20FDB-03A1-BF09-8749-0BEEE50753E2}"/>
              </a:ext>
            </a:extLst>
          </p:cNvPr>
          <p:cNvSpPr txBox="1"/>
          <p:nvPr/>
        </p:nvSpPr>
        <p:spPr>
          <a:xfrm>
            <a:off x="3542872" y="17355155"/>
            <a:ext cx="33073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800" b="1" dirty="0">
                <a:ea typeface="Noto Sans KR" panose="020B0200000000000000" pitchFamily="50" charset="-127"/>
              </a:rPr>
              <a:t>3. RESULTS</a:t>
            </a:r>
            <a:endParaRPr lang="ko-KR" altLang="en-US" sz="4800" b="1" dirty="0">
              <a:ea typeface="Noto Sans KR" panose="020B0200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B86C4E-5690-44F3-F996-2501CE2A7E84}"/>
              </a:ext>
            </a:extLst>
          </p:cNvPr>
          <p:cNvSpPr txBox="1"/>
          <p:nvPr/>
        </p:nvSpPr>
        <p:spPr>
          <a:xfrm>
            <a:off x="13412892" y="25118453"/>
            <a:ext cx="47644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800" b="1" dirty="0">
                <a:ea typeface="Noto Sans KR" panose="020B0200000000000000" pitchFamily="50" charset="-127"/>
              </a:rPr>
              <a:t>5. CONCLUSION</a:t>
            </a:r>
            <a:endParaRPr lang="ko-KR" altLang="en-US" sz="4800" b="1" dirty="0">
              <a:ea typeface="Noto Sans KR" panose="020B0200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024CC6-5EAF-0006-94E0-BA844575DC09}"/>
              </a:ext>
            </a:extLst>
          </p:cNvPr>
          <p:cNvSpPr txBox="1"/>
          <p:nvPr/>
        </p:nvSpPr>
        <p:spPr>
          <a:xfrm>
            <a:off x="2621333" y="296021"/>
            <a:ext cx="16140957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500" b="1" dirty="0">
                <a:solidFill>
                  <a:srgbClr val="00428E"/>
                </a:solidFill>
                <a:latin typeface="+mj-lt"/>
                <a:ea typeface="Noto Sans KR" panose="020B0200000000000000" pitchFamily="50" charset="-127"/>
              </a:rPr>
              <a:t>IMAGE</a:t>
            </a:r>
            <a:r>
              <a:rPr lang="ko-KR" altLang="en-US" sz="11500" b="1" dirty="0">
                <a:solidFill>
                  <a:srgbClr val="00428E"/>
                </a:solidFill>
                <a:latin typeface="+mj-lt"/>
                <a:ea typeface="Noto Sans KR" panose="020B0200000000000000" pitchFamily="50" charset="-127"/>
              </a:rPr>
              <a:t>를 사용한 감정 분류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B1747B1-8F3B-FE99-C536-5BE2B26BA2FC}"/>
              </a:ext>
            </a:extLst>
          </p:cNvPr>
          <p:cNvCxnSpPr/>
          <p:nvPr/>
        </p:nvCxnSpPr>
        <p:spPr>
          <a:xfrm>
            <a:off x="-14514" y="2324100"/>
            <a:ext cx="7928819" cy="0"/>
          </a:xfrm>
          <a:prstGeom prst="line">
            <a:avLst/>
          </a:prstGeom>
          <a:ln w="76200">
            <a:solidFill>
              <a:srgbClr val="00428E"/>
            </a:solidFill>
            <a:headEnd type="none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59B3FDC-1CF9-AE31-93B3-99FE674F1A19}"/>
              </a:ext>
            </a:extLst>
          </p:cNvPr>
          <p:cNvSpPr txBox="1"/>
          <p:nvPr/>
        </p:nvSpPr>
        <p:spPr>
          <a:xfrm>
            <a:off x="245996" y="2488344"/>
            <a:ext cx="71577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latin typeface="+mj-lt"/>
                <a:ea typeface="Noto Sans KR" panose="020B0200000000000000" pitchFamily="50" charset="-127"/>
              </a:rPr>
              <a:t>인공지능데이터사이언스학과</a:t>
            </a:r>
            <a:r>
              <a:rPr lang="ko-KR" altLang="en-US" sz="2800" b="1" dirty="0">
                <a:latin typeface="+mj-lt"/>
                <a:ea typeface="Noto Sans KR" panose="020B0200000000000000" pitchFamily="50" charset="-127"/>
              </a:rPr>
              <a:t> </a:t>
            </a:r>
            <a:r>
              <a:rPr lang="en-US" altLang="ko-KR" sz="2800" b="1" dirty="0">
                <a:latin typeface="+mj-lt"/>
                <a:ea typeface="Noto Sans KR" panose="020B0200000000000000" pitchFamily="50" charset="-127"/>
              </a:rPr>
              <a:t>24011917 </a:t>
            </a:r>
            <a:r>
              <a:rPr lang="ko-KR" altLang="en-US" sz="2800" b="1" dirty="0">
                <a:latin typeface="+mj-lt"/>
                <a:ea typeface="Noto Sans KR" panose="020B0200000000000000" pitchFamily="50" charset="-127"/>
              </a:rPr>
              <a:t>이지현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11CE325-C988-7DA6-F383-F2AFD042C652}"/>
              </a:ext>
            </a:extLst>
          </p:cNvPr>
          <p:cNvGrpSpPr/>
          <p:nvPr/>
        </p:nvGrpSpPr>
        <p:grpSpPr>
          <a:xfrm>
            <a:off x="170797" y="8443609"/>
            <a:ext cx="10051461" cy="8623914"/>
            <a:chOff x="170797" y="3475876"/>
            <a:chExt cx="10051461" cy="6734924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3BFB1DB2-328E-BB2A-BA1C-FE9FDC33F883}"/>
                </a:ext>
              </a:extLst>
            </p:cNvPr>
            <p:cNvSpPr/>
            <p:nvPr/>
          </p:nvSpPr>
          <p:spPr>
            <a:xfrm>
              <a:off x="170797" y="3475876"/>
              <a:ext cx="10051461" cy="6734924"/>
            </a:xfrm>
            <a:prstGeom prst="roundRect">
              <a:avLst>
                <a:gd name="adj" fmla="val 6599"/>
              </a:avLst>
            </a:prstGeom>
            <a:solidFill>
              <a:schemeClr val="bg1"/>
            </a:solidFill>
            <a:ln w="57150">
              <a:solidFill>
                <a:srgbClr val="8486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120AB784-4718-FD5C-6E3C-10BB94D7940F}"/>
                </a:ext>
              </a:extLst>
            </p:cNvPr>
            <p:cNvCxnSpPr/>
            <p:nvPr/>
          </p:nvCxnSpPr>
          <p:spPr>
            <a:xfrm>
              <a:off x="170797" y="4303416"/>
              <a:ext cx="10051461" cy="0"/>
            </a:xfrm>
            <a:prstGeom prst="line">
              <a:avLst/>
            </a:prstGeom>
            <a:ln w="57150">
              <a:solidFill>
                <a:srgbClr val="84868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59ACA8E-D7DF-6D9D-E767-18DD879E7891}"/>
                </a:ext>
              </a:extLst>
            </p:cNvPr>
            <p:cNvSpPr txBox="1"/>
            <p:nvPr/>
          </p:nvSpPr>
          <p:spPr>
            <a:xfrm>
              <a:off x="2534580" y="3622168"/>
              <a:ext cx="532389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4800" b="1" dirty="0">
                  <a:ea typeface="Noto Sans KR" panose="020B0200000000000000" pitchFamily="50" charset="-127"/>
                </a:rPr>
                <a:t>2. METHODOLOGY</a:t>
              </a:r>
              <a:endParaRPr lang="ko-KR" altLang="en-US" sz="4800" b="1" dirty="0">
                <a:ea typeface="Noto Sans KR" panose="020B0200000000000000" pitchFamily="50" charset="-127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3A42E3E-4BCA-B2DF-C436-C55844D63472}"/>
              </a:ext>
            </a:extLst>
          </p:cNvPr>
          <p:cNvSpPr txBox="1"/>
          <p:nvPr/>
        </p:nvSpPr>
        <p:spPr>
          <a:xfrm>
            <a:off x="300051" y="4695535"/>
            <a:ext cx="979294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600" b="1" dirty="0"/>
              <a:t>[</a:t>
            </a:r>
            <a:r>
              <a:rPr lang="ko-KR" altLang="en-US" sz="2600" b="1" dirty="0"/>
              <a:t>목적</a:t>
            </a:r>
            <a:r>
              <a:rPr lang="en-US" altLang="ko-KR" sz="2600" b="1" dirty="0"/>
              <a:t>] </a:t>
            </a:r>
            <a:r>
              <a:rPr lang="en-US" altLang="ko-KR" sz="2600" dirty="0"/>
              <a:t>- MOSI </a:t>
            </a:r>
            <a:r>
              <a:rPr lang="ko-KR" altLang="en-US" sz="2600" dirty="0"/>
              <a:t>데이터셋의 영상 프레임에서 </a:t>
            </a:r>
            <a:r>
              <a:rPr lang="ko-KR" altLang="en-US" sz="2600" dirty="0" err="1"/>
              <a:t>긍</a:t>
            </a:r>
            <a:r>
              <a:rPr lang="en-US" altLang="ko-KR" sz="2600" dirty="0"/>
              <a:t>·</a:t>
            </a:r>
            <a:r>
              <a:rPr lang="ko-KR" altLang="en-US" sz="2600" dirty="0"/>
              <a:t>부정 감정을 분류하는 이진 분류 모델을 구현한다</a:t>
            </a:r>
            <a:r>
              <a:rPr lang="en-US" altLang="ko-KR" sz="2600" dirty="0"/>
              <a:t>. </a:t>
            </a:r>
            <a:r>
              <a:rPr lang="ko-KR" altLang="en-US" sz="2600" dirty="0"/>
              <a:t>파라미터 수가 적은 경량 모델 </a:t>
            </a:r>
            <a:r>
              <a:rPr lang="en-US" altLang="ko-KR" sz="2600" dirty="0" err="1"/>
              <a:t>efficientnet</a:t>
            </a:r>
            <a:r>
              <a:rPr lang="en-US" altLang="ko-KR" sz="2600" dirty="0"/>
              <a:t> </a:t>
            </a:r>
            <a:r>
              <a:rPr lang="ko-KR" altLang="en-US" sz="2600" dirty="0"/>
              <a:t>을 파인 튜닝하여 성능을 높이는 것을 목표로 한다</a:t>
            </a:r>
            <a:r>
              <a:rPr lang="en-US" altLang="ko-KR" sz="2600" dirty="0"/>
              <a:t>.</a:t>
            </a:r>
          </a:p>
          <a:p>
            <a:pPr algn="just"/>
            <a:endParaRPr lang="en-US" altLang="ko-KR" sz="2600" dirty="0"/>
          </a:p>
          <a:p>
            <a:pPr algn="just"/>
            <a:r>
              <a:rPr lang="en-US" altLang="ko-KR" sz="2600" b="1" dirty="0"/>
              <a:t>[</a:t>
            </a:r>
            <a:r>
              <a:rPr lang="ko-KR" altLang="en-US" sz="2600" b="1" dirty="0"/>
              <a:t>파이프라인</a:t>
            </a:r>
            <a:r>
              <a:rPr lang="en-US" altLang="ko-KR" sz="2600" b="1" dirty="0"/>
              <a:t>] </a:t>
            </a:r>
            <a:r>
              <a:rPr lang="en-US" altLang="ko-KR" sz="2600" dirty="0"/>
              <a:t>– transform </a:t>
            </a:r>
            <a:r>
              <a:rPr lang="ko-KR" altLang="en-US" sz="2600" dirty="0"/>
              <a:t>증강 기법을 추가해 데이터 전처리를 진행하고 </a:t>
            </a:r>
            <a:r>
              <a:rPr lang="en-US" altLang="ko-KR" sz="2600" dirty="0" err="1"/>
              <a:t>efficientnet</a:t>
            </a:r>
            <a:r>
              <a:rPr lang="en-US" altLang="ko-KR" sz="2600" dirty="0"/>
              <a:t> </a:t>
            </a:r>
            <a:r>
              <a:rPr lang="ko-KR" altLang="en-US" sz="2600" dirty="0"/>
              <a:t>시리즈 중 가장 가벼운</a:t>
            </a:r>
            <a:r>
              <a:rPr lang="en-US" altLang="ko-KR" sz="2600" dirty="0"/>
              <a:t> B0 </a:t>
            </a:r>
            <a:r>
              <a:rPr lang="ko-KR" altLang="en-US" sz="2600" dirty="0"/>
              <a:t>모델을 이용하여 총 </a:t>
            </a:r>
            <a:r>
              <a:rPr lang="en-US" altLang="ko-KR" sz="2600" dirty="0"/>
              <a:t>24</a:t>
            </a:r>
            <a:r>
              <a:rPr lang="ko-KR" altLang="en-US" sz="2600" dirty="0"/>
              <a:t>개의 </a:t>
            </a:r>
            <a:r>
              <a:rPr lang="ko-KR" altLang="en-US" sz="2600" dirty="0" err="1"/>
              <a:t>하이퍼파라미터</a:t>
            </a:r>
            <a:r>
              <a:rPr lang="ko-KR" altLang="en-US" sz="2600" dirty="0"/>
              <a:t> 조합을 순차 실험했다</a:t>
            </a:r>
            <a:r>
              <a:rPr lang="en-US" altLang="ko-KR" sz="2600" dirty="0"/>
              <a:t>. </a:t>
            </a:r>
            <a:r>
              <a:rPr lang="ko-KR" altLang="en-US" sz="2600" dirty="0"/>
              <a:t>그 중 </a:t>
            </a:r>
            <a:r>
              <a:rPr lang="en-US" altLang="ko-KR" sz="2600" dirty="0"/>
              <a:t>Best </a:t>
            </a:r>
            <a:r>
              <a:rPr lang="ko-KR" altLang="en-US" sz="2600" dirty="0"/>
              <a:t>모델은 기본 </a:t>
            </a:r>
            <a:r>
              <a:rPr lang="en-US" altLang="ko-KR" sz="2600" dirty="0"/>
              <a:t>CNN, </a:t>
            </a:r>
            <a:r>
              <a:rPr lang="en-US" altLang="ko-KR" sz="2600" dirty="0" err="1"/>
              <a:t>AlexNet</a:t>
            </a:r>
            <a:r>
              <a:rPr lang="ko-KR" altLang="en-US" sz="2600" dirty="0"/>
              <a:t>보다 더 높은 성능을 보였다</a:t>
            </a:r>
            <a:r>
              <a:rPr lang="en-US" altLang="ko-KR" sz="2600" dirty="0"/>
              <a:t>.  </a:t>
            </a:r>
            <a:endParaRPr lang="ko-KR" altLang="en-US" sz="2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808054-891D-CBA4-47A9-C72487252D45}"/>
              </a:ext>
            </a:extLst>
          </p:cNvPr>
          <p:cNvSpPr txBox="1"/>
          <p:nvPr/>
        </p:nvSpPr>
        <p:spPr>
          <a:xfrm>
            <a:off x="10477932" y="26460063"/>
            <a:ext cx="1063435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600" dirty="0"/>
              <a:t>EfficientNet-B0</a:t>
            </a:r>
            <a:r>
              <a:rPr lang="ko-KR" altLang="en-US" sz="2600" dirty="0"/>
              <a:t>은 약 </a:t>
            </a:r>
            <a:r>
              <a:rPr lang="en-US" altLang="ko-KR" sz="2600" dirty="0"/>
              <a:t>4M</a:t>
            </a:r>
            <a:r>
              <a:rPr lang="ko-KR" altLang="en-US" sz="2600" dirty="0"/>
              <a:t>의 파라미터로 </a:t>
            </a:r>
            <a:r>
              <a:rPr lang="en-US" altLang="ko-KR" sz="2600" dirty="0" err="1"/>
              <a:t>AlexNet</a:t>
            </a:r>
            <a:r>
              <a:rPr lang="en-US" altLang="ko-KR" sz="2600" dirty="0"/>
              <a:t>(57M) </a:t>
            </a:r>
            <a:r>
              <a:rPr lang="ko-KR" altLang="en-US" sz="2600" dirty="0"/>
              <a:t>대비</a:t>
            </a:r>
            <a:r>
              <a:rPr lang="en-US" altLang="ko-KR" sz="2600" dirty="0"/>
              <a:t>, </a:t>
            </a:r>
            <a:r>
              <a:rPr lang="ko-KR" altLang="en-US" sz="2600" dirty="0"/>
              <a:t>약 </a:t>
            </a:r>
            <a:r>
              <a:rPr lang="en-US" altLang="ko-KR" sz="2600" dirty="0"/>
              <a:t>14</a:t>
            </a:r>
            <a:r>
              <a:rPr lang="ko-KR" altLang="en-US" sz="2600" dirty="0"/>
              <a:t>배 경량이면서도 전이 학습을 통해 감정 분류 성능을 상회하였다</a:t>
            </a:r>
            <a:r>
              <a:rPr lang="en-US" altLang="ko-KR" sz="2600" dirty="0"/>
              <a:t>. </a:t>
            </a:r>
            <a:r>
              <a:rPr lang="ko-KR" altLang="en-US" sz="2600" dirty="0"/>
              <a:t>적은 데이터지만 </a:t>
            </a:r>
            <a:r>
              <a:rPr lang="en-US" altLang="ko-KR" sz="2600" dirty="0"/>
              <a:t>rotation, </a:t>
            </a:r>
            <a:r>
              <a:rPr lang="en-US" altLang="ko-KR" sz="2600" dirty="0" err="1"/>
              <a:t>colorjitter</a:t>
            </a:r>
            <a:r>
              <a:rPr lang="en-US" altLang="ko-KR" sz="2600" dirty="0"/>
              <a:t> </a:t>
            </a:r>
            <a:r>
              <a:rPr lang="ko-KR" altLang="en-US" sz="2600" dirty="0"/>
              <a:t>등을 이용해 데이터를 증강한 전처리가 모델 안정성에 기여한 것으로 판단된다</a:t>
            </a:r>
            <a:r>
              <a:rPr lang="en-US" altLang="ko-KR" sz="2600" dirty="0"/>
              <a:t>. Grid Search </a:t>
            </a:r>
            <a:r>
              <a:rPr lang="ko-KR" altLang="en-US" sz="2600" dirty="0"/>
              <a:t>결과 </a:t>
            </a:r>
            <a:r>
              <a:rPr lang="en-US" altLang="ko-KR" sz="2600" dirty="0"/>
              <a:t>Adam(</a:t>
            </a:r>
            <a:r>
              <a:rPr lang="en-US" altLang="ko-KR" sz="2600" dirty="0" err="1"/>
              <a:t>lr</a:t>
            </a:r>
            <a:r>
              <a:rPr lang="en-US" altLang="ko-KR" sz="2600" dirty="0"/>
              <a:t>=1e-4, epoch=10)</a:t>
            </a:r>
            <a:r>
              <a:rPr lang="ko-KR" altLang="en-US" sz="2600" dirty="0"/>
              <a:t>조합이 최적으로 확인되었으며</a:t>
            </a:r>
            <a:r>
              <a:rPr lang="en-US" altLang="ko-KR" sz="2600" dirty="0"/>
              <a:t>, </a:t>
            </a:r>
            <a:r>
              <a:rPr lang="ko-KR" altLang="en-US" sz="2600" dirty="0"/>
              <a:t>경량 모델로도 충분한 성능을 달성할 수 있음을 검증하였다</a:t>
            </a:r>
            <a:r>
              <a:rPr lang="en-US" altLang="ko-KR" sz="2600" dirty="0"/>
              <a:t>. </a:t>
            </a:r>
            <a:r>
              <a:rPr lang="ko-KR" altLang="en-US" sz="2600" dirty="0"/>
              <a:t>그러나 정확도 </a:t>
            </a:r>
            <a:r>
              <a:rPr lang="en-US" altLang="ko-KR" sz="2600" dirty="0"/>
              <a:t>70%</a:t>
            </a:r>
            <a:r>
              <a:rPr lang="ko-KR" altLang="en-US" sz="2600" dirty="0"/>
              <a:t>까지는 도달하지 못하여 추후 거대 모델로 학습하여 성능을 높인 후 이를 </a:t>
            </a:r>
            <a:r>
              <a:rPr lang="ko-KR" altLang="en-US" sz="2600" dirty="0" err="1"/>
              <a:t>경량화하는</a:t>
            </a:r>
            <a:r>
              <a:rPr lang="ko-KR" altLang="en-US" sz="2600" dirty="0"/>
              <a:t> 역과정을 도출하고자 한다</a:t>
            </a:r>
            <a:r>
              <a:rPr lang="en-US" altLang="ko-KR" sz="2600" dirty="0"/>
              <a:t>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C631EC-B41F-2ED0-747F-85C964265FEA}"/>
              </a:ext>
            </a:extLst>
          </p:cNvPr>
          <p:cNvSpPr txBox="1"/>
          <p:nvPr/>
        </p:nvSpPr>
        <p:spPr>
          <a:xfrm>
            <a:off x="429309" y="18672495"/>
            <a:ext cx="6164601" cy="11249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/>
              <a:t>[</a:t>
            </a:r>
            <a:r>
              <a:rPr lang="ko-KR" altLang="en-US" sz="2500" b="1" dirty="0" err="1"/>
              <a:t>모델별</a:t>
            </a:r>
            <a:r>
              <a:rPr lang="ko-KR" altLang="en-US" sz="2500" b="1" dirty="0"/>
              <a:t> </a:t>
            </a:r>
            <a:r>
              <a:rPr lang="en-US" altLang="ko-KR" sz="2500" b="1" dirty="0"/>
              <a:t>Test Accuracy </a:t>
            </a:r>
            <a:r>
              <a:rPr lang="ko-KR" altLang="en-US" sz="2500" b="1" dirty="0"/>
              <a:t>비교</a:t>
            </a:r>
            <a:r>
              <a:rPr lang="en-US" altLang="ko-KR" sz="2500" b="1" dirty="0"/>
              <a:t>]</a:t>
            </a:r>
          </a:p>
          <a:p>
            <a:r>
              <a:rPr lang="en-US" altLang="ko-KR" sz="2500" dirty="0"/>
              <a:t>  </a:t>
            </a:r>
            <a:r>
              <a:rPr lang="en-US" altLang="ko-KR" sz="2500" dirty="0" err="1"/>
              <a:t>SimpleCNN</a:t>
            </a:r>
            <a:r>
              <a:rPr lang="en-US" altLang="ko-KR" sz="2500" dirty="0"/>
              <a:t> (</a:t>
            </a:r>
            <a:r>
              <a:rPr lang="en-US" altLang="ko-KR" sz="2500" dirty="0" err="1"/>
              <a:t>MaxPool+Dropout</a:t>
            </a:r>
            <a:r>
              <a:rPr lang="en-US" altLang="ko-KR" sz="2500" dirty="0"/>
              <a:t>) : 55.9%</a:t>
            </a:r>
          </a:p>
          <a:p>
            <a:r>
              <a:rPr lang="en-US" altLang="ko-KR" sz="2500" dirty="0"/>
              <a:t>  </a:t>
            </a:r>
            <a:r>
              <a:rPr lang="en-US" altLang="ko-KR" sz="2500" dirty="0" err="1"/>
              <a:t>SimpleCNN</a:t>
            </a:r>
            <a:r>
              <a:rPr lang="en-US" altLang="ko-KR" sz="2500" dirty="0"/>
              <a:t> (</a:t>
            </a:r>
            <a:r>
              <a:rPr lang="en-US" altLang="ko-KR" sz="2500" dirty="0" err="1"/>
              <a:t>AvgPool</a:t>
            </a:r>
            <a:r>
              <a:rPr lang="en-US" altLang="ko-KR" sz="2500" dirty="0"/>
              <a:t>)          : 60.7%</a:t>
            </a:r>
          </a:p>
          <a:p>
            <a:r>
              <a:rPr lang="en-US" altLang="ko-KR" sz="2500" dirty="0"/>
              <a:t>  </a:t>
            </a:r>
            <a:r>
              <a:rPr lang="en-US" altLang="ko-KR" sz="2500" dirty="0" err="1"/>
              <a:t>AlexNet</a:t>
            </a:r>
            <a:r>
              <a:rPr lang="en-US" altLang="ko-KR" sz="2500" dirty="0"/>
              <a:t>				         	 : 57.3%</a:t>
            </a:r>
          </a:p>
          <a:p>
            <a:r>
              <a:rPr lang="en-US" altLang="ko-KR" sz="2500" dirty="0"/>
              <a:t>  EfficientNet-B0 			 : 68.4%  ★</a:t>
            </a:r>
          </a:p>
          <a:p>
            <a:endParaRPr lang="en-US" altLang="ko-KR" sz="2500" dirty="0"/>
          </a:p>
          <a:p>
            <a:r>
              <a:rPr lang="en-US" altLang="ko-KR" sz="2500" dirty="0"/>
              <a:t>Best </a:t>
            </a:r>
            <a:r>
              <a:rPr lang="ko-KR" altLang="en-US" sz="2500" dirty="0"/>
              <a:t>모델 </a:t>
            </a:r>
            <a:r>
              <a:rPr lang="en-US" altLang="ko-KR" sz="2500" dirty="0"/>
              <a:t>EfficientNet-B0</a:t>
            </a:r>
            <a:r>
              <a:rPr lang="ko-KR" altLang="en-US" sz="2500" dirty="0"/>
              <a:t>은 </a:t>
            </a:r>
            <a:r>
              <a:rPr lang="en-US" altLang="ko-KR" sz="2500" dirty="0"/>
              <a:t>Test Accuracy 68.41%, F1-Score 68.39%</a:t>
            </a:r>
            <a:r>
              <a:rPr lang="ko-KR" altLang="en-US" sz="2500" dirty="0"/>
              <a:t> 의 결과가 나왔다</a:t>
            </a:r>
            <a:r>
              <a:rPr lang="en-US" altLang="ko-KR" sz="2500" dirty="0"/>
              <a:t>.</a:t>
            </a:r>
            <a:endParaRPr lang="ko-KR" altLang="en-US" sz="2500" dirty="0"/>
          </a:p>
          <a:p>
            <a:r>
              <a:rPr lang="en-US" altLang="ko-KR" sz="2500" dirty="0"/>
              <a:t>Accuracy</a:t>
            </a:r>
            <a:r>
              <a:rPr lang="ko-KR" altLang="en-US" sz="2500" dirty="0"/>
              <a:t>와 </a:t>
            </a:r>
            <a:r>
              <a:rPr lang="en-US" altLang="ko-KR" sz="2500" dirty="0"/>
              <a:t>F1-Score</a:t>
            </a:r>
            <a:r>
              <a:rPr lang="ko-KR" altLang="en-US" sz="2500" dirty="0"/>
              <a:t>가 거의 동일한 것은 클래스 간 예측 균형이 잘 </a:t>
            </a:r>
            <a:r>
              <a:rPr lang="ko-KR" altLang="en-US" sz="2500" dirty="0" err="1"/>
              <a:t>맞춰졌음을</a:t>
            </a:r>
            <a:r>
              <a:rPr lang="ko-KR" altLang="en-US" sz="2500" dirty="0"/>
              <a:t> 의미한다</a:t>
            </a:r>
            <a:r>
              <a:rPr lang="en-US" altLang="ko-KR" sz="2500" dirty="0"/>
              <a:t>. </a:t>
            </a:r>
            <a:r>
              <a:rPr lang="ko-KR" altLang="en-US" sz="2500" dirty="0"/>
              <a:t>약 </a:t>
            </a:r>
            <a:r>
              <a:rPr lang="en-US" altLang="ko-KR" sz="2500" dirty="0"/>
              <a:t>6M</a:t>
            </a:r>
            <a:r>
              <a:rPr lang="ko-KR" altLang="en-US" sz="2500" dirty="0"/>
              <a:t>개의 파라미터를 가진 </a:t>
            </a:r>
            <a:r>
              <a:rPr lang="en-US" altLang="ko-KR" sz="2500" dirty="0" err="1"/>
              <a:t>SimpleCNN</a:t>
            </a:r>
            <a:r>
              <a:rPr lang="ko-KR" altLang="en-US" sz="2500" dirty="0"/>
              <a:t>보다 더 가벼운 경량 모델로 </a:t>
            </a:r>
            <a:r>
              <a:rPr lang="en-US" altLang="ko-KR" sz="2500" dirty="0"/>
              <a:t>Test Accuracy</a:t>
            </a:r>
            <a:r>
              <a:rPr lang="ko-KR" altLang="en-US" sz="2500" dirty="0"/>
              <a:t>가 높게 나왔다는 점에 의의가 있다</a:t>
            </a:r>
            <a:r>
              <a:rPr lang="en-US" altLang="ko-KR" sz="2500" dirty="0"/>
              <a:t>. </a:t>
            </a:r>
          </a:p>
          <a:p>
            <a:endParaRPr lang="en-US" altLang="ko-KR" sz="2500" dirty="0"/>
          </a:p>
          <a:p>
            <a:r>
              <a:rPr lang="en-US" altLang="ko-KR" sz="2500" b="1" dirty="0"/>
              <a:t>[</a:t>
            </a:r>
            <a:r>
              <a:rPr lang="ko-KR" altLang="en-US" sz="2500" b="1" dirty="0" err="1"/>
              <a:t>모델별</a:t>
            </a:r>
            <a:r>
              <a:rPr lang="ko-KR" altLang="en-US" sz="2500" b="1" dirty="0"/>
              <a:t> </a:t>
            </a:r>
            <a:r>
              <a:rPr lang="en-US" altLang="ko-KR" sz="2500" b="1" dirty="0"/>
              <a:t>Parameter </a:t>
            </a:r>
            <a:r>
              <a:rPr lang="ko-KR" altLang="en-US" sz="2500" b="1" dirty="0"/>
              <a:t>비교</a:t>
            </a:r>
            <a:r>
              <a:rPr lang="en-US" altLang="ko-KR" sz="2500" b="1" dirty="0"/>
              <a:t>]</a:t>
            </a:r>
          </a:p>
          <a:p>
            <a:r>
              <a:rPr lang="en-US" altLang="ko-KR" sz="2500" dirty="0" err="1"/>
              <a:t>SimpleCNN</a:t>
            </a:r>
            <a:r>
              <a:rPr lang="en-US" altLang="ko-KR" sz="2500" dirty="0"/>
              <a:t> (</a:t>
            </a:r>
            <a:r>
              <a:rPr lang="en-US" altLang="ko-KR" sz="2500" dirty="0" err="1"/>
              <a:t>MaxPool+Dropout</a:t>
            </a:r>
            <a:r>
              <a:rPr lang="en-US" altLang="ko-KR" sz="2500" dirty="0"/>
              <a:t>) : 6,446,498</a:t>
            </a:r>
          </a:p>
          <a:p>
            <a:r>
              <a:rPr lang="en-US" altLang="ko-KR" sz="2500" dirty="0" err="1"/>
              <a:t>SimpleCNN</a:t>
            </a:r>
            <a:r>
              <a:rPr lang="en-US" altLang="ko-KR" sz="2500" dirty="0"/>
              <a:t> (</a:t>
            </a:r>
            <a:r>
              <a:rPr lang="en-US" altLang="ko-KR" sz="2500" dirty="0" err="1"/>
              <a:t>AvgPool</a:t>
            </a:r>
            <a:r>
              <a:rPr lang="en-US" altLang="ko-KR" sz="2500" dirty="0"/>
              <a:t>)          : 6,446,498</a:t>
            </a:r>
          </a:p>
          <a:p>
            <a:r>
              <a:rPr lang="en-US" altLang="ko-KR" sz="2500" dirty="0"/>
              <a:t>  </a:t>
            </a:r>
            <a:r>
              <a:rPr lang="en-US" altLang="ko-KR" sz="2500" dirty="0" err="1"/>
              <a:t>AlexNet</a:t>
            </a:r>
            <a:r>
              <a:rPr lang="en-US" altLang="ko-KR" sz="2500" dirty="0"/>
              <a:t>				             : 57,012,034</a:t>
            </a:r>
          </a:p>
          <a:p>
            <a:r>
              <a:rPr lang="en-US" altLang="ko-KR" sz="2500" dirty="0"/>
              <a:t>  EfficientNet-B0 		      : 4,010,110  ★</a:t>
            </a:r>
          </a:p>
          <a:p>
            <a:endParaRPr lang="en-US" altLang="ko-KR" sz="2500" dirty="0"/>
          </a:p>
          <a:p>
            <a:endParaRPr lang="en-US" altLang="ko-KR" sz="2500" dirty="0"/>
          </a:p>
          <a:p>
            <a:r>
              <a:rPr lang="en-US" altLang="ko-KR" sz="2500" b="1" dirty="0"/>
              <a:t>[</a:t>
            </a:r>
            <a:r>
              <a:rPr lang="ko-KR" altLang="en-US" sz="2500" b="1" dirty="0" err="1"/>
              <a:t>하이퍼파라미터</a:t>
            </a:r>
            <a:r>
              <a:rPr lang="ko-KR" altLang="en-US" sz="2500" b="1" dirty="0"/>
              <a:t> 실험 요약</a:t>
            </a:r>
            <a:r>
              <a:rPr lang="en-US" altLang="ko-KR" sz="2500" b="1" dirty="0"/>
              <a:t>]</a:t>
            </a:r>
          </a:p>
          <a:p>
            <a:r>
              <a:rPr lang="en-US" altLang="ko-KR" sz="2500" dirty="0"/>
              <a:t>  - Adam</a:t>
            </a:r>
            <a:r>
              <a:rPr lang="ko-KR" altLang="en-US" sz="2500" dirty="0"/>
              <a:t>이 </a:t>
            </a:r>
            <a:r>
              <a:rPr lang="en-US" altLang="ko-KR" sz="2500" dirty="0"/>
              <a:t>SGD </a:t>
            </a:r>
            <a:r>
              <a:rPr lang="ko-KR" altLang="en-US" sz="2500" dirty="0"/>
              <a:t>대비 전반적으로 높은 정확도</a:t>
            </a:r>
          </a:p>
          <a:p>
            <a:r>
              <a:rPr lang="ko-KR" altLang="en-US" sz="2500" dirty="0"/>
              <a:t>  </a:t>
            </a:r>
            <a:r>
              <a:rPr lang="en-US" altLang="ko-KR" sz="2500" dirty="0"/>
              <a:t>- </a:t>
            </a:r>
            <a:r>
              <a:rPr lang="en-US" altLang="ko-KR" sz="2500" dirty="0" err="1"/>
              <a:t>lr</a:t>
            </a:r>
            <a:r>
              <a:rPr lang="en-US" altLang="ko-KR" sz="2500" dirty="0"/>
              <a:t>=1e-4</a:t>
            </a:r>
            <a:r>
              <a:rPr lang="ko-KR" altLang="en-US" sz="2500" dirty="0"/>
              <a:t>에서 가장 안정적인 수렴</a:t>
            </a:r>
          </a:p>
          <a:p>
            <a:r>
              <a:rPr lang="ko-KR" altLang="en-US" sz="2500" dirty="0"/>
              <a:t>  </a:t>
            </a:r>
            <a:r>
              <a:rPr lang="en-US" altLang="ko-KR" sz="2500" dirty="0"/>
              <a:t>- epoch </a:t>
            </a:r>
            <a:r>
              <a:rPr lang="ko-KR" altLang="en-US" sz="2500" dirty="0"/>
              <a:t>증가에 따른 성능 향상은 </a:t>
            </a:r>
            <a:r>
              <a:rPr lang="en-US" altLang="ko-KR" sz="2500" dirty="0"/>
              <a:t>10 </a:t>
            </a:r>
            <a:r>
              <a:rPr lang="ko-KR" altLang="en-US" sz="2500" dirty="0"/>
              <a:t>이후 과대적합</a:t>
            </a:r>
            <a:endParaRPr lang="en-US" altLang="ko-KR" sz="2500" dirty="0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B335030D-AF03-11A2-FE8E-6360184367F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305" y="18578054"/>
            <a:ext cx="3214695" cy="4543204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4CB5F3D2-F590-1555-E144-7A4EA1BA62B3}"/>
              </a:ext>
            </a:extLst>
          </p:cNvPr>
          <p:cNvSpPr txBox="1"/>
          <p:nvPr/>
        </p:nvSpPr>
        <p:spPr>
          <a:xfrm>
            <a:off x="10673472" y="4790393"/>
            <a:ext cx="97929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200" b="1" dirty="0"/>
              <a:t>Part2. </a:t>
            </a:r>
            <a:r>
              <a:rPr lang="ko-KR" altLang="en-US" sz="2200" b="1" dirty="0"/>
              <a:t>데이터 </a:t>
            </a:r>
            <a:r>
              <a:rPr lang="ko-KR" altLang="en-US" sz="2200" b="1" dirty="0" err="1"/>
              <a:t>전처리</a:t>
            </a:r>
            <a:r>
              <a:rPr lang="ko-KR" altLang="en-US" sz="2200" b="1" dirty="0"/>
              <a:t> </a:t>
            </a:r>
            <a:r>
              <a:rPr lang="en-US" altLang="ko-KR" sz="2200" b="1" dirty="0"/>
              <a:t>– </a:t>
            </a:r>
            <a:r>
              <a:rPr lang="ko-KR" altLang="en-US" sz="2200" b="1" dirty="0"/>
              <a:t>데이터 품질 개선 및 증강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72ACE95-8FFB-9A7B-2EFE-293CCFDA55E7}"/>
              </a:ext>
            </a:extLst>
          </p:cNvPr>
          <p:cNvSpPr txBox="1"/>
          <p:nvPr/>
        </p:nvSpPr>
        <p:spPr>
          <a:xfrm>
            <a:off x="10673471" y="8782880"/>
            <a:ext cx="97929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200" b="1" dirty="0"/>
              <a:t>Part3. </a:t>
            </a:r>
            <a:r>
              <a:rPr lang="ko-KR" altLang="en-US" sz="2200" b="1" dirty="0"/>
              <a:t>모델 구조 설계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6983F08-2C44-3567-2736-E0092E85AA33}"/>
              </a:ext>
            </a:extLst>
          </p:cNvPr>
          <p:cNvSpPr txBox="1"/>
          <p:nvPr/>
        </p:nvSpPr>
        <p:spPr>
          <a:xfrm>
            <a:off x="10673471" y="10662582"/>
            <a:ext cx="97929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200" b="1" dirty="0"/>
              <a:t>Part4. </a:t>
            </a:r>
            <a:r>
              <a:rPr lang="ko-KR" altLang="en-US" sz="2200" b="1" dirty="0"/>
              <a:t>모델 학습 </a:t>
            </a:r>
            <a:r>
              <a:rPr lang="en-US" altLang="ko-KR" sz="2200" b="1" dirty="0"/>
              <a:t>– 24</a:t>
            </a:r>
            <a:r>
              <a:rPr lang="ko-KR" altLang="en-US" sz="2200" b="1" dirty="0"/>
              <a:t>개의 파라미터 조합 생성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242C86E-CF2E-EDCA-7157-0602360D61BD}"/>
              </a:ext>
            </a:extLst>
          </p:cNvPr>
          <p:cNvSpPr txBox="1"/>
          <p:nvPr/>
        </p:nvSpPr>
        <p:spPr>
          <a:xfrm>
            <a:off x="10691809" y="5427502"/>
            <a:ext cx="385520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b="0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pipeline_D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(path):</a:t>
            </a:r>
          </a:p>
          <a:p>
            <a:pPr>
              <a:buNone/>
            </a:pP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load_image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(path)</a:t>
            </a:r>
          </a:p>
          <a:p>
            <a:pPr>
              <a:buNone/>
            </a:pP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2000" b="0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b="0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b="0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None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2000" b="0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b="0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None</a:t>
            </a:r>
            <a:endParaRPr lang="en-US" altLang="ko-KR" sz="2000" b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face_crop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pad_img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denoise_img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sharpen_img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ko-KR" altLang="en-US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2000" b="0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endParaRPr lang="en-US" altLang="ko-KR" sz="2000" b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30B29AC-2D1D-8657-0B11-5A5230B7C96A}"/>
              </a:ext>
            </a:extLst>
          </p:cNvPr>
          <p:cNvSpPr txBox="1"/>
          <p:nvPr/>
        </p:nvSpPr>
        <p:spPr>
          <a:xfrm>
            <a:off x="14293455" y="5431212"/>
            <a:ext cx="674920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train_transforms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transforms.Compose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([</a:t>
            </a:r>
          </a:p>
          <a:p>
            <a:pPr>
              <a:buNone/>
            </a:pP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transforms.ToPILImage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(),</a:t>
            </a:r>
          </a:p>
          <a:p>
            <a:pPr>
              <a:buNone/>
            </a:pP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transforms.RandomHorizontalFlip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(p=</a:t>
            </a:r>
            <a:r>
              <a:rPr lang="en-US" altLang="ko-KR" sz="2000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0.5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  <a:endParaRPr lang="ko-KR" altLang="en-US" sz="2000" b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transforms.RandomRotation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(degrees=</a:t>
            </a:r>
            <a:r>
              <a:rPr lang="en-US" altLang="ko-KR" sz="2000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15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</a:t>
            </a:r>
            <a:endParaRPr lang="ko-KR" altLang="en-US" sz="2000" b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transforms.ColorJitter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(brightness=</a:t>
            </a:r>
            <a:r>
              <a:rPr lang="en-US" altLang="ko-KR" sz="2000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0.3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buNone/>
            </a:pPr>
            <a:r>
              <a:rPr lang="en-US" altLang="ko-KR" sz="20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					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contrast=</a:t>
            </a:r>
            <a:r>
              <a:rPr lang="en-US" altLang="ko-KR" sz="2000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0.3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saturation=</a:t>
            </a:r>
            <a:r>
              <a:rPr lang="en-US" altLang="ko-KR" sz="2000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0.2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</a:t>
            </a:r>
            <a:endParaRPr lang="ko-KR" altLang="en-US" sz="2000" b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transforms.RandomAffine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(degrees=</a:t>
            </a:r>
            <a:r>
              <a:rPr lang="en-US" altLang="ko-KR" sz="2000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buNone/>
            </a:pPr>
            <a:r>
              <a:rPr lang="en-US" altLang="ko-KR" sz="20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					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translate=(</a:t>
            </a:r>
            <a:r>
              <a:rPr lang="en-US" altLang="ko-KR" sz="2000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0.05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2000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0.05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)),</a:t>
            </a:r>
            <a:endParaRPr lang="ko-KR" altLang="en-US" sz="2000" b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transforms.ToTensor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(),</a:t>
            </a:r>
          </a:p>
          <a:p>
            <a:pPr>
              <a:buNone/>
            </a:pP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transforms.Normalize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(mean=[</a:t>
            </a:r>
            <a:r>
              <a:rPr lang="en-US" altLang="ko-KR" sz="2000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0.485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2000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0.456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2000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0.406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],</a:t>
            </a:r>
          </a:p>
          <a:p>
            <a:pPr>
              <a:buNone/>
            </a:pPr>
            <a:r>
              <a:rPr lang="ko-KR" altLang="en-US" sz="20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					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std=[</a:t>
            </a:r>
            <a:r>
              <a:rPr lang="en-US" altLang="ko-KR" sz="2000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0.229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2000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0.224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2000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0.225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]),])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14B5E3F-9537-8586-1159-C29A5BD3AEA8}"/>
              </a:ext>
            </a:extLst>
          </p:cNvPr>
          <p:cNvSpPr txBox="1"/>
          <p:nvPr/>
        </p:nvSpPr>
        <p:spPr>
          <a:xfrm>
            <a:off x="10691809" y="9368782"/>
            <a:ext cx="107101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e_model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efficientnet_b0(weights=EfficientNet_B0_Weights.</a:t>
            </a:r>
            <a:r>
              <a:rPr lang="en-US" altLang="ko-KR" sz="2000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IMAGENET1K_V1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b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in_features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e_model.classifier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2000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].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in_features</a:t>
            </a:r>
            <a:endParaRPr lang="en-US" altLang="ko-KR" sz="2000" b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e_model.classifier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2000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 =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nn.Linear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in_features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2000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706213D3-ADF9-92B0-BC10-4A6F4EE0D0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471"/>
          <a:stretch>
            <a:fillRect/>
          </a:stretch>
        </p:blipFill>
        <p:spPr>
          <a:xfrm>
            <a:off x="6487074" y="26661465"/>
            <a:ext cx="3605926" cy="316271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F34D993-6765-ECBF-D772-6AE987A5EA79}"/>
              </a:ext>
            </a:extLst>
          </p:cNvPr>
          <p:cNvSpPr txBox="1"/>
          <p:nvPr/>
        </p:nvSpPr>
        <p:spPr>
          <a:xfrm>
            <a:off x="10682081" y="11227669"/>
            <a:ext cx="107198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LR_LIST        = [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1e-3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1e-4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1e-5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EPOCH_LIST     = [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15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OPTIMIZER_LIST = [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'Adam'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'SGD'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pPr>
              <a:buNone/>
            </a:pPr>
            <a:r>
              <a:rPr lang="en-US" altLang="ko-KR" b="0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모든 조합 생성</a:t>
            </a:r>
            <a:endParaRPr lang="ko-KR" altLang="en-US" b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grid_configs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[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{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num_epochs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ep,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'optimizer'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opt}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ep, opt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product(LR_LIST, EPOCH_LIST, OPTIMIZER_LIST)]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0517C0-3249-8F58-FF5A-7562C80DEDDC}"/>
              </a:ext>
            </a:extLst>
          </p:cNvPr>
          <p:cNvSpPr txBox="1"/>
          <p:nvPr/>
        </p:nvSpPr>
        <p:spPr>
          <a:xfrm>
            <a:off x="429309" y="9740880"/>
            <a:ext cx="3869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 err="1">
                <a:ea typeface="Noto Sans KR" panose="020B0200000000000000" pitchFamily="50" charset="-127"/>
              </a:rPr>
              <a:t>전처리</a:t>
            </a:r>
            <a:r>
              <a:rPr lang="en-US" altLang="ko-KR" sz="2400" b="1" dirty="0">
                <a:ea typeface="Noto Sans KR" panose="020B0200000000000000" pitchFamily="50" charset="-127"/>
              </a:rPr>
              <a:t>: </a:t>
            </a:r>
            <a:r>
              <a:rPr lang="ko-KR" altLang="en-US" sz="2400" b="1" dirty="0">
                <a:ea typeface="Noto Sans KR" panose="020B0200000000000000" pitchFamily="50" charset="-127"/>
              </a:rPr>
              <a:t>기하학적 데이터 증강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94C35E0-AA00-C675-7D00-7FBC5BECF28D}"/>
              </a:ext>
            </a:extLst>
          </p:cNvPr>
          <p:cNvSpPr txBox="1"/>
          <p:nvPr/>
        </p:nvSpPr>
        <p:spPr>
          <a:xfrm>
            <a:off x="471473" y="10184467"/>
            <a:ext cx="102019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/>
              <a:t>RandomHorizontalFlip</a:t>
            </a:r>
            <a:r>
              <a:rPr lang="en-US" altLang="ko-KR" sz="2400" dirty="0"/>
              <a:t> / </a:t>
            </a:r>
            <a:r>
              <a:rPr lang="en-US" altLang="ko-KR" sz="2400" dirty="0" err="1"/>
              <a:t>RandomRotation</a:t>
            </a:r>
            <a:r>
              <a:rPr lang="en-US" altLang="ko-KR" sz="2400" dirty="0"/>
              <a:t>(±15°) / </a:t>
            </a:r>
            <a:r>
              <a:rPr lang="en-US" altLang="ko-KR" sz="2400" dirty="0" err="1"/>
              <a:t>ColorJitter</a:t>
            </a:r>
            <a:r>
              <a:rPr lang="en-US" altLang="ko-KR" sz="2400" dirty="0"/>
              <a:t> / </a:t>
            </a:r>
          </a:p>
          <a:p>
            <a:r>
              <a:rPr lang="en-US" altLang="ko-KR" sz="2400" dirty="0" err="1"/>
              <a:t>RandomAffine</a:t>
            </a:r>
            <a:r>
              <a:rPr lang="en-US" altLang="ko-KR" sz="2400" dirty="0"/>
              <a:t> / ImageNet </a:t>
            </a:r>
            <a:r>
              <a:rPr lang="ko-KR" altLang="en-US" sz="2400" dirty="0"/>
              <a:t>정규화 </a:t>
            </a:r>
            <a:r>
              <a:rPr lang="en-US" altLang="ko-KR" sz="2400" dirty="0"/>
              <a:t>(μ=0.485/0.456/0.406, σ=0.229/0.224/0.225)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B3FCFC6-01E0-0531-124E-BAE79C3C4A49}"/>
              </a:ext>
            </a:extLst>
          </p:cNvPr>
          <p:cNvSpPr txBox="1"/>
          <p:nvPr/>
        </p:nvSpPr>
        <p:spPr>
          <a:xfrm>
            <a:off x="471473" y="13350096"/>
            <a:ext cx="5254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ea typeface="Noto Sans KR" panose="020B0200000000000000" pitchFamily="50" charset="-127"/>
              </a:rPr>
              <a:t>모델 구조</a:t>
            </a:r>
            <a:r>
              <a:rPr lang="en-US" altLang="ko-KR" sz="2400" b="1" dirty="0">
                <a:ea typeface="Noto Sans KR" panose="020B0200000000000000" pitchFamily="50" charset="-127"/>
              </a:rPr>
              <a:t>: </a:t>
            </a:r>
            <a:r>
              <a:rPr lang="ko-KR" altLang="en-US" sz="2400" b="1" dirty="0">
                <a:ea typeface="Noto Sans KR" panose="020B0200000000000000" pitchFamily="50" charset="-127"/>
              </a:rPr>
              <a:t>가벼운 모델로 높은 성능 계획</a:t>
            </a:r>
            <a:r>
              <a:rPr lang="en-US" altLang="ko-KR" sz="2400" b="1" dirty="0">
                <a:ea typeface="Noto Sans KR" panose="020B0200000000000000" pitchFamily="50" charset="-127"/>
              </a:rPr>
              <a:t> </a:t>
            </a:r>
            <a:endParaRPr lang="ko-KR" altLang="en-US" sz="2400" b="1" dirty="0">
              <a:ea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E06F96F-5133-87D3-6CF9-74486285CC34}"/>
              </a:ext>
            </a:extLst>
          </p:cNvPr>
          <p:cNvSpPr txBox="1"/>
          <p:nvPr/>
        </p:nvSpPr>
        <p:spPr>
          <a:xfrm>
            <a:off x="471473" y="13839191"/>
            <a:ext cx="92990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ImageNet pretrained </a:t>
            </a:r>
            <a:r>
              <a:rPr lang="ko-KR" altLang="en-US" sz="2400" dirty="0"/>
              <a:t>가중치 로드 →마지막 </a:t>
            </a:r>
            <a:r>
              <a:rPr lang="en-US" altLang="ko-KR" sz="2400" dirty="0"/>
              <a:t>FC </a:t>
            </a:r>
            <a:r>
              <a:rPr lang="ko-KR" altLang="en-US" sz="2400" dirty="0"/>
              <a:t>레이어를 </a:t>
            </a:r>
            <a:r>
              <a:rPr lang="en-US" altLang="ko-KR" sz="2400" dirty="0"/>
              <a:t>2-class</a:t>
            </a:r>
            <a:r>
              <a:rPr lang="ko-KR" altLang="en-US" sz="2400" dirty="0"/>
              <a:t>로 교체 후 전체 </a:t>
            </a:r>
            <a:r>
              <a:rPr lang="en-US" altLang="ko-KR" sz="2400" dirty="0"/>
              <a:t>fine-tuning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8A23038-FD21-B542-0DB8-ACB0657B95F7}"/>
              </a:ext>
            </a:extLst>
          </p:cNvPr>
          <p:cNvSpPr txBox="1"/>
          <p:nvPr/>
        </p:nvSpPr>
        <p:spPr>
          <a:xfrm>
            <a:off x="429309" y="14869752"/>
            <a:ext cx="4600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err="1">
                <a:ea typeface="Noto Sans KR" panose="020B0200000000000000" pitchFamily="50" charset="-127"/>
              </a:rPr>
              <a:t>하이퍼파라미터</a:t>
            </a:r>
            <a:r>
              <a:rPr lang="ko-KR" altLang="en-US" sz="2400" b="1" dirty="0">
                <a:ea typeface="Noto Sans KR" panose="020B0200000000000000" pitchFamily="50" charset="-127"/>
              </a:rPr>
              <a:t> 탐색</a:t>
            </a:r>
            <a:r>
              <a:rPr lang="en-US" altLang="ko-KR" sz="2400" b="1" dirty="0">
                <a:ea typeface="Noto Sans KR" panose="020B0200000000000000" pitchFamily="50" charset="-127"/>
              </a:rPr>
              <a:t>: Grid Search</a:t>
            </a:r>
            <a:endParaRPr lang="ko-KR" altLang="en-US" sz="2400" b="1" dirty="0">
              <a:ea typeface="Noto Sans KR" panose="020B0200000000000000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15A5509-4D59-4872-00D1-6121AD33E1E6}"/>
              </a:ext>
            </a:extLst>
          </p:cNvPr>
          <p:cNvSpPr txBox="1"/>
          <p:nvPr/>
        </p:nvSpPr>
        <p:spPr>
          <a:xfrm>
            <a:off x="429309" y="15383685"/>
            <a:ext cx="92990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Optimizer : Adam / SGD</a:t>
            </a:r>
          </a:p>
          <a:p>
            <a:r>
              <a:rPr lang="en-US" altLang="ko-KR" sz="2400" dirty="0"/>
              <a:t>LR        : 1e-3 / 1e-4 / 1e-5</a:t>
            </a:r>
          </a:p>
          <a:p>
            <a:r>
              <a:rPr lang="en-US" altLang="ko-KR" sz="2400" dirty="0"/>
              <a:t>Epochs    : 5 / 10 / 15 / 20</a:t>
            </a:r>
          </a:p>
          <a:p>
            <a:r>
              <a:rPr lang="ko-KR" altLang="en-US" sz="2400" dirty="0"/>
              <a:t>총 </a:t>
            </a:r>
            <a:r>
              <a:rPr lang="en-US" altLang="ko-KR" sz="2400" dirty="0"/>
              <a:t>24</a:t>
            </a:r>
            <a:r>
              <a:rPr lang="ko-KR" altLang="en-US" sz="2400" dirty="0"/>
              <a:t>가지 조합 순차 실험 → </a:t>
            </a:r>
            <a:r>
              <a:rPr lang="en-US" altLang="ko-KR" sz="2400" dirty="0"/>
              <a:t>Best: Adam, </a:t>
            </a:r>
            <a:r>
              <a:rPr lang="en-US" altLang="ko-KR" sz="2400" dirty="0" err="1"/>
              <a:t>lr</a:t>
            </a:r>
            <a:r>
              <a:rPr lang="en-US" altLang="ko-KR" sz="2400" dirty="0"/>
              <a:t>=1e-4, epoch=10</a:t>
            </a:r>
            <a:endParaRPr lang="ko-KR" altLang="en-US" sz="2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4A7CDCB-417C-C162-C1CD-9BCC940CD98B}"/>
              </a:ext>
            </a:extLst>
          </p:cNvPr>
          <p:cNvSpPr txBox="1"/>
          <p:nvPr/>
        </p:nvSpPr>
        <p:spPr>
          <a:xfrm>
            <a:off x="4177142" y="11020130"/>
            <a:ext cx="60111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b="1" dirty="0">
                <a:solidFill>
                  <a:srgbClr val="FF0000"/>
                </a:solidFill>
              </a:rPr>
              <a:t>→ 현실에서 발생 가능한 위치</a:t>
            </a:r>
            <a:r>
              <a:rPr lang="en-US" altLang="ko-KR" sz="2200" b="1" dirty="0">
                <a:solidFill>
                  <a:srgbClr val="FF0000"/>
                </a:solidFill>
              </a:rPr>
              <a:t>,</a:t>
            </a:r>
            <a:r>
              <a:rPr lang="ko-KR" altLang="en-US" sz="2200" b="1" dirty="0">
                <a:solidFill>
                  <a:srgbClr val="FF0000"/>
                </a:solidFill>
              </a:rPr>
              <a:t>형태 변화에 대응</a:t>
            </a:r>
            <a:endParaRPr lang="en-US" altLang="ko-KR" sz="2200" b="1" dirty="0">
              <a:solidFill>
                <a:srgbClr val="FF000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87341D5-C30C-40E8-8B63-A1D8401A5BA8}"/>
              </a:ext>
            </a:extLst>
          </p:cNvPr>
          <p:cNvSpPr txBox="1"/>
          <p:nvPr/>
        </p:nvSpPr>
        <p:spPr>
          <a:xfrm>
            <a:off x="5010443" y="14319057"/>
            <a:ext cx="60111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b="1" dirty="0">
                <a:solidFill>
                  <a:srgbClr val="FF0000"/>
                </a:solidFill>
              </a:rPr>
              <a:t>→ 사전 학습된 가중치를 활용하여 부족한 데이터셋에서도 높은 일반화 성능 확보</a:t>
            </a:r>
            <a:endParaRPr lang="en-US" altLang="ko-KR" sz="2200" b="1" dirty="0">
              <a:solidFill>
                <a:srgbClr val="FF000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E51D860-E062-CF4C-7AF6-A973E41C4C27}"/>
              </a:ext>
            </a:extLst>
          </p:cNvPr>
          <p:cNvSpPr txBox="1"/>
          <p:nvPr/>
        </p:nvSpPr>
        <p:spPr>
          <a:xfrm>
            <a:off x="4211142" y="15609025"/>
            <a:ext cx="60111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b="1" dirty="0">
                <a:solidFill>
                  <a:srgbClr val="FF0000"/>
                </a:solidFill>
              </a:rPr>
              <a:t>→ 모델의 수렴 속도와 분류 정확도를 극대화하는 최적 조합 도출</a:t>
            </a:r>
            <a:endParaRPr lang="en-US" altLang="ko-KR" sz="2200" b="1" dirty="0">
              <a:solidFill>
                <a:srgbClr val="FF0000"/>
              </a:solidFill>
            </a:endParaRPr>
          </a:p>
        </p:txBody>
      </p:sp>
      <p:pic>
        <p:nvPicPr>
          <p:cNvPr id="85" name="그림 84">
            <a:extLst>
              <a:ext uri="{FF2B5EF4-FFF2-40B4-BE49-F238E27FC236}">
                <a16:creationId xmlns:a16="http://schemas.microsoft.com/office/drawing/2014/main" id="{A69A4341-4808-0304-DAB0-D21BCD0AB9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3543" y="23202438"/>
            <a:ext cx="2875094" cy="3630918"/>
          </a:xfrm>
          <a:prstGeom prst="rect">
            <a:avLst/>
          </a:prstGeom>
        </p:spPr>
      </p:pic>
      <p:pic>
        <p:nvPicPr>
          <p:cNvPr id="87" name="그림 86">
            <a:extLst>
              <a:ext uri="{FF2B5EF4-FFF2-40B4-BE49-F238E27FC236}">
                <a16:creationId xmlns:a16="http://schemas.microsoft.com/office/drawing/2014/main" id="{3CE0E5F5-8843-8816-916C-B1E8590D79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654" y="11443260"/>
            <a:ext cx="8350369" cy="1731457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CA11581B-00ED-5CC9-975A-4EE591682458}"/>
              </a:ext>
            </a:extLst>
          </p:cNvPr>
          <p:cNvSpPr txBox="1"/>
          <p:nvPr/>
        </p:nvSpPr>
        <p:spPr>
          <a:xfrm>
            <a:off x="10662581" y="14062655"/>
            <a:ext cx="107053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0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build_model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매 실험마다 동일한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pretrained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가중치로 초기화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 = efficientnet_b0(weights=EfficientNet_B0_Weights.IMAGENET1K_V1)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in_feat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m.classifier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].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in_features</a:t>
            </a:r>
            <a:endParaRPr lang="en-US" altLang="ko-KR" b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m.classifier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 =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nn.Linear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in_feat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m.to(device)</a:t>
            </a:r>
          </a:p>
          <a:p>
            <a:pPr>
              <a:buNone/>
            </a:pPr>
            <a:r>
              <a:rPr lang="en-US" altLang="ko-KR" b="0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build_optimier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(model,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opt_name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opt_name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==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'Adam'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optim.Adam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model.parameters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b="0" dirty="0" err="1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elif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opt_name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==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'SGD'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optim.SGD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model.parameters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momentum=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0.9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raise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ValueError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b="0" dirty="0" err="1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'Unknown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optimizer: 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opt_name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’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CC36321-5D32-ACE8-C95E-CE8837AD633E}"/>
              </a:ext>
            </a:extLst>
          </p:cNvPr>
          <p:cNvSpPr txBox="1"/>
          <p:nvPr/>
        </p:nvSpPr>
        <p:spPr>
          <a:xfrm>
            <a:off x="10691809" y="17770653"/>
            <a:ext cx="97929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200" b="1" dirty="0"/>
              <a:t>Part4. </a:t>
            </a:r>
            <a:r>
              <a:rPr lang="ko-KR" altLang="en-US" sz="2200" b="1" dirty="0"/>
              <a:t>모델 학습 </a:t>
            </a:r>
            <a:r>
              <a:rPr lang="en-US" altLang="ko-KR" sz="2200" b="1" dirty="0"/>
              <a:t>– </a:t>
            </a:r>
            <a:r>
              <a:rPr lang="ko-KR" altLang="en-US" sz="2200" b="1" dirty="0"/>
              <a:t>조합 별 </a:t>
            </a:r>
            <a:r>
              <a:rPr lang="en-US" altLang="ko-KR" sz="2200" b="1" dirty="0"/>
              <a:t>acc,f1, </a:t>
            </a:r>
            <a:r>
              <a:rPr lang="ko-KR" altLang="en-US" sz="2200" b="1" dirty="0"/>
              <a:t>소요 시간 등 저장</a:t>
            </a:r>
            <a:r>
              <a:rPr lang="en-US" altLang="ko-KR" sz="2200" b="1" dirty="0"/>
              <a:t>/</a:t>
            </a:r>
            <a:r>
              <a:rPr lang="ko-KR" altLang="en-US" sz="2200" b="1" dirty="0"/>
              <a:t>최적 모델 탐색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B9257AA-AD44-6972-2EF6-31A8389054E3}"/>
              </a:ext>
            </a:extLst>
          </p:cNvPr>
          <p:cNvSpPr txBox="1"/>
          <p:nvPr/>
        </p:nvSpPr>
        <p:spPr>
          <a:xfrm>
            <a:off x="10791891" y="18281978"/>
            <a:ext cx="10420937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0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cfg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enumerate(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grid_configs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      =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cfg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num_ep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  =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cfg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num_epochs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opt_name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=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cfg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'optimizer'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print(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\n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{i+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grid_configs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)}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 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epochs=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num_ep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optimizer=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opt_name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print(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'-'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50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 </a:t>
            </a:r>
            <a:r>
              <a:rPr lang="ko-KR" altLang="en-US" b="0" dirty="0" err="1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옵티마이저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초기화</a:t>
            </a:r>
            <a:endParaRPr lang="ko-KR" altLang="en-US" b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exp_model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build_model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exp_optim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build_optimizer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exp_model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opt_name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t0 =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time.time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학습</a:t>
            </a:r>
            <a:endParaRPr lang="ko-KR" altLang="en-US" b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exp_train_loss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exp_train_acc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train_model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exp_model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train_loader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criterion,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exp_optim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num_ep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device)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평가</a:t>
            </a:r>
            <a:endParaRPr lang="ko-KR" altLang="en-US" b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test_loss_e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test_acc_e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preds_e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labels_e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evaluate_model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exp_model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test_loader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criterion, device)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elapsed =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time.time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- t0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f1 = f1_score(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labels_e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preds_e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average=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'weighted'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grid_results.append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({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'optimizer'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: opt_name,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’</a:t>
            </a:r>
            <a:r>
              <a:rPr lang="en-US" altLang="ko-KR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num_epochs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num_ep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buNone/>
            </a:pPr>
            <a:r>
              <a:rPr lang="en-US" altLang="ko-KR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	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test_acc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round(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test_acc_e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'f1_score'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 : round(f1,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</a:t>
            </a:r>
          </a:p>
          <a:p>
            <a:pPr>
              <a:buNone/>
            </a:pPr>
            <a:r>
              <a:rPr lang="en-US" altLang="ko-KR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	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final_train_acc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round(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exp_train_acc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[-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],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elapsed_sec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round(elapsed,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),})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8844521-8125-B0EC-930F-58C72D204336}"/>
              </a:ext>
            </a:extLst>
          </p:cNvPr>
          <p:cNvSpPr txBox="1"/>
          <p:nvPr/>
        </p:nvSpPr>
        <p:spPr>
          <a:xfrm>
            <a:off x="10673471" y="13487603"/>
            <a:ext cx="97929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200" b="1" dirty="0"/>
              <a:t>Part4. </a:t>
            </a:r>
            <a:r>
              <a:rPr lang="ko-KR" altLang="en-US" sz="2200" b="1" dirty="0"/>
              <a:t>모델 학습 </a:t>
            </a:r>
            <a:r>
              <a:rPr lang="en-US" altLang="ko-KR" sz="2200" b="1" dirty="0"/>
              <a:t>– build </a:t>
            </a:r>
            <a:r>
              <a:rPr lang="ko-KR" altLang="en-US" sz="2200" b="1" dirty="0"/>
              <a:t>함수</a:t>
            </a:r>
          </a:p>
        </p:txBody>
      </p:sp>
    </p:spTree>
    <p:extLst>
      <p:ext uri="{BB962C8B-B14F-4D97-AF65-F5344CB8AC3E}">
        <p14:creationId xmlns:p14="http://schemas.microsoft.com/office/powerpoint/2010/main" val="999435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399</TotalTime>
  <Words>1291</Words>
  <Application>Microsoft Office PowerPoint</Application>
  <PresentationFormat>사용자 지정</PresentationFormat>
  <Paragraphs>114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D2Coding</vt:lpstr>
      <vt:lpstr>Noto Sans KR</vt:lpstr>
      <vt:lpstr>맑은 고딕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윤석희</dc:creator>
  <cp:lastModifiedBy>이지현</cp:lastModifiedBy>
  <cp:revision>64</cp:revision>
  <dcterms:created xsi:type="dcterms:W3CDTF">2026-04-03T07:54:49Z</dcterms:created>
  <dcterms:modified xsi:type="dcterms:W3CDTF">2026-04-18T08:34:49Z</dcterms:modified>
</cp:coreProperties>
</file>