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2FF"/>
    <a:srgbClr val="C9D5D5"/>
    <a:srgbClr val="F6F8F8"/>
    <a:srgbClr val="6DB3FF"/>
    <a:srgbClr val="00428E"/>
    <a:srgbClr val="2DA59A"/>
    <a:srgbClr val="12887B"/>
    <a:srgbClr val="0F110E"/>
    <a:srgbClr val="848683"/>
    <a:srgbClr val="B8E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0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3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73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59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43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5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86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94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79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42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58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96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1327E-1882-4BB9-BDAD-1A6731EEDA67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9CE6B-7511-4D6E-9C1B-04F7FDEF01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07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8A113B3-832B-5364-8C99-5B52F12F5A7A}"/>
              </a:ext>
            </a:extLst>
          </p:cNvPr>
          <p:cNvSpPr/>
          <p:nvPr/>
        </p:nvSpPr>
        <p:spPr>
          <a:xfrm>
            <a:off x="0" y="0"/>
            <a:ext cx="21383625" cy="3309257"/>
          </a:xfrm>
          <a:prstGeom prst="rect">
            <a:avLst/>
          </a:prstGeom>
          <a:solidFill>
            <a:srgbClr val="E7F2FF"/>
          </a:solidFill>
          <a:ln>
            <a:solidFill>
              <a:srgbClr val="F6F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27DE169-EAF3-886B-2C2B-9C58B0B13899}"/>
              </a:ext>
            </a:extLst>
          </p:cNvPr>
          <p:cNvSpPr/>
          <p:nvPr/>
        </p:nvSpPr>
        <p:spPr>
          <a:xfrm>
            <a:off x="10377391" y="3475875"/>
            <a:ext cx="10835437" cy="21312913"/>
          </a:xfrm>
          <a:prstGeom prst="roundRect">
            <a:avLst>
              <a:gd name="adj" fmla="val 4966"/>
            </a:avLst>
          </a:prstGeom>
          <a:solidFill>
            <a:schemeClr val="bg1"/>
          </a:solidFill>
          <a:ln w="57150">
            <a:solidFill>
              <a:srgbClr val="8486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69D4C2A-FE3B-38EC-1460-8D63CE4553F3}"/>
              </a:ext>
            </a:extLst>
          </p:cNvPr>
          <p:cNvSpPr/>
          <p:nvPr/>
        </p:nvSpPr>
        <p:spPr>
          <a:xfrm>
            <a:off x="170797" y="17184318"/>
            <a:ext cx="10051461" cy="1281235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57150">
            <a:solidFill>
              <a:srgbClr val="8486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8ACDADE-7F0C-5966-9761-A4E30C92A7E9}"/>
              </a:ext>
            </a:extLst>
          </p:cNvPr>
          <p:cNvSpPr/>
          <p:nvPr/>
        </p:nvSpPr>
        <p:spPr>
          <a:xfrm>
            <a:off x="10377391" y="24956438"/>
            <a:ext cx="10835437" cy="5022754"/>
          </a:xfrm>
          <a:prstGeom prst="roundRect">
            <a:avLst>
              <a:gd name="adj" fmla="val 10123"/>
            </a:avLst>
          </a:prstGeom>
          <a:solidFill>
            <a:schemeClr val="bg1"/>
          </a:solidFill>
          <a:ln w="57150">
            <a:solidFill>
              <a:srgbClr val="8486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EE5DB84-9687-1DFE-F132-5A26E2FE3A24}"/>
              </a:ext>
            </a:extLst>
          </p:cNvPr>
          <p:cNvCxnSpPr/>
          <p:nvPr/>
        </p:nvCxnSpPr>
        <p:spPr>
          <a:xfrm>
            <a:off x="170797" y="18365299"/>
            <a:ext cx="10051461" cy="0"/>
          </a:xfrm>
          <a:prstGeom prst="line">
            <a:avLst/>
          </a:prstGeom>
          <a:ln w="57150">
            <a:solidFill>
              <a:srgbClr val="8486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1CE9F61-25EF-5494-4BB1-016E4CE651AC}"/>
              </a:ext>
            </a:extLst>
          </p:cNvPr>
          <p:cNvCxnSpPr>
            <a:cxnSpLocks/>
          </p:cNvCxnSpPr>
          <p:nvPr/>
        </p:nvCxnSpPr>
        <p:spPr>
          <a:xfrm>
            <a:off x="10377391" y="26117098"/>
            <a:ext cx="10835437" cy="0"/>
          </a:xfrm>
          <a:prstGeom prst="line">
            <a:avLst/>
          </a:prstGeom>
          <a:ln w="57150">
            <a:solidFill>
              <a:srgbClr val="8486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301B6DF-ED59-E70C-ECCC-0B46752784C7}"/>
              </a:ext>
            </a:extLst>
          </p:cNvPr>
          <p:cNvCxnSpPr>
            <a:cxnSpLocks/>
          </p:cNvCxnSpPr>
          <p:nvPr/>
        </p:nvCxnSpPr>
        <p:spPr>
          <a:xfrm>
            <a:off x="10382678" y="4652213"/>
            <a:ext cx="10796827" cy="0"/>
          </a:xfrm>
          <a:prstGeom prst="line">
            <a:avLst/>
          </a:prstGeom>
          <a:ln w="57150">
            <a:solidFill>
              <a:srgbClr val="8486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178E629-1B23-E460-D193-24486370B0BD}"/>
              </a:ext>
            </a:extLst>
          </p:cNvPr>
          <p:cNvGrpSpPr/>
          <p:nvPr/>
        </p:nvGrpSpPr>
        <p:grpSpPr>
          <a:xfrm>
            <a:off x="170797" y="3475876"/>
            <a:ext cx="10051461" cy="6734924"/>
            <a:chOff x="170797" y="3475876"/>
            <a:chExt cx="10051461" cy="6734924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5162498B-F65B-2E6D-BC44-3A3CE5A19D1B}"/>
                </a:ext>
              </a:extLst>
            </p:cNvPr>
            <p:cNvSpPr/>
            <p:nvPr/>
          </p:nvSpPr>
          <p:spPr>
            <a:xfrm>
              <a:off x="170797" y="3475876"/>
              <a:ext cx="10051461" cy="6734924"/>
            </a:xfrm>
            <a:prstGeom prst="roundRect">
              <a:avLst>
                <a:gd name="adj" fmla="val 7475"/>
              </a:avLst>
            </a:prstGeom>
            <a:solidFill>
              <a:schemeClr val="bg1"/>
            </a:solidFill>
            <a:ln w="57150">
              <a:solidFill>
                <a:srgbClr val="848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F1E1C7D3-7500-BEAE-A503-AA4F5DBF4EC8}"/>
                </a:ext>
              </a:extLst>
            </p:cNvPr>
            <p:cNvCxnSpPr/>
            <p:nvPr/>
          </p:nvCxnSpPr>
          <p:spPr>
            <a:xfrm>
              <a:off x="170797" y="4607768"/>
              <a:ext cx="10051461" cy="0"/>
            </a:xfrm>
            <a:prstGeom prst="line">
              <a:avLst/>
            </a:prstGeom>
            <a:ln w="57150">
              <a:solidFill>
                <a:srgbClr val="84868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4051CE8-0575-E95C-3976-49C61024A8E3}"/>
                </a:ext>
              </a:extLst>
            </p:cNvPr>
            <p:cNvSpPr txBox="1"/>
            <p:nvPr/>
          </p:nvSpPr>
          <p:spPr>
            <a:xfrm>
              <a:off x="2581627" y="3622168"/>
              <a:ext cx="5229800" cy="839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800" b="1" dirty="0">
                  <a:ea typeface="Noto Sans KR" panose="020B0200000000000000" pitchFamily="50" charset="-127"/>
                </a:rPr>
                <a:t>1. INTRODICTION</a:t>
              </a:r>
              <a:endParaRPr lang="ko-KR" altLang="en-US" sz="4800" b="1" dirty="0">
                <a:ea typeface="Noto Sans KR" panose="020B0200000000000000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F8CE296-AA52-6755-AE16-1AA6213839F6}"/>
              </a:ext>
            </a:extLst>
          </p:cNvPr>
          <p:cNvSpPr txBox="1"/>
          <p:nvPr/>
        </p:nvSpPr>
        <p:spPr>
          <a:xfrm>
            <a:off x="14547012" y="3622168"/>
            <a:ext cx="2496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>
                <a:ea typeface="Noto Sans KR" panose="020B0200000000000000" pitchFamily="50" charset="-127"/>
              </a:rPr>
              <a:t>4. CODE</a:t>
            </a:r>
            <a:endParaRPr lang="ko-KR" altLang="en-US" sz="4800" b="1" dirty="0"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B20FDB-03A1-BF09-8749-0BEEE50753E2}"/>
              </a:ext>
            </a:extLst>
          </p:cNvPr>
          <p:cNvSpPr txBox="1"/>
          <p:nvPr/>
        </p:nvSpPr>
        <p:spPr>
          <a:xfrm>
            <a:off x="3542872" y="17355155"/>
            <a:ext cx="33073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>
                <a:ea typeface="Noto Sans KR" panose="020B0200000000000000" pitchFamily="50" charset="-127"/>
              </a:rPr>
              <a:t>3. RESULTS</a:t>
            </a:r>
            <a:endParaRPr lang="ko-KR" altLang="en-US" sz="4800" b="1" dirty="0">
              <a:ea typeface="Noto Sans KR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B86C4E-5690-44F3-F996-2501CE2A7E84}"/>
              </a:ext>
            </a:extLst>
          </p:cNvPr>
          <p:cNvSpPr txBox="1"/>
          <p:nvPr/>
        </p:nvSpPr>
        <p:spPr>
          <a:xfrm>
            <a:off x="13412892" y="25118453"/>
            <a:ext cx="47644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>
                <a:ea typeface="Noto Sans KR" panose="020B0200000000000000" pitchFamily="50" charset="-127"/>
              </a:rPr>
              <a:t>5. CONCLUSION</a:t>
            </a:r>
            <a:endParaRPr lang="ko-KR" altLang="en-US" sz="4800" b="1" dirty="0"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024CC6-5EAF-0006-94E0-BA844575DC09}"/>
              </a:ext>
            </a:extLst>
          </p:cNvPr>
          <p:cNvSpPr txBox="1"/>
          <p:nvPr/>
        </p:nvSpPr>
        <p:spPr>
          <a:xfrm>
            <a:off x="2621333" y="296021"/>
            <a:ext cx="161409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500" b="1" dirty="0">
                <a:solidFill>
                  <a:srgbClr val="00428E"/>
                </a:solidFill>
                <a:latin typeface="+mj-lt"/>
                <a:ea typeface="Noto Sans KR" panose="020B0200000000000000" pitchFamily="50" charset="-127"/>
              </a:rPr>
              <a:t>IMAGE</a:t>
            </a:r>
            <a:r>
              <a:rPr lang="ko-KR" altLang="en-US" sz="11500" b="1" dirty="0">
                <a:solidFill>
                  <a:srgbClr val="00428E"/>
                </a:solidFill>
                <a:latin typeface="+mj-lt"/>
                <a:ea typeface="Noto Sans KR" panose="020B0200000000000000" pitchFamily="50" charset="-127"/>
              </a:rPr>
              <a:t>를 사용한 감정 분류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B1747B1-8F3B-FE99-C536-5BE2B26BA2FC}"/>
              </a:ext>
            </a:extLst>
          </p:cNvPr>
          <p:cNvCxnSpPr/>
          <p:nvPr/>
        </p:nvCxnSpPr>
        <p:spPr>
          <a:xfrm>
            <a:off x="-14514" y="2324100"/>
            <a:ext cx="7928819" cy="0"/>
          </a:xfrm>
          <a:prstGeom prst="line">
            <a:avLst/>
          </a:prstGeom>
          <a:ln w="76200">
            <a:solidFill>
              <a:srgbClr val="00428E"/>
            </a:solidFill>
            <a:headEnd type="non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59B3FDC-1CF9-AE31-93B3-99FE674F1A19}"/>
              </a:ext>
            </a:extLst>
          </p:cNvPr>
          <p:cNvSpPr txBox="1"/>
          <p:nvPr/>
        </p:nvSpPr>
        <p:spPr>
          <a:xfrm>
            <a:off x="245996" y="2488344"/>
            <a:ext cx="7157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latin typeface="+mj-lt"/>
                <a:ea typeface="Noto Sans KR" panose="020B0200000000000000" pitchFamily="50" charset="-127"/>
              </a:rPr>
              <a:t>인공지능데이터사이언스학과</a:t>
            </a:r>
            <a:r>
              <a:rPr lang="ko-KR" altLang="en-US" sz="2800" b="1" dirty="0">
                <a:latin typeface="+mj-lt"/>
                <a:ea typeface="Noto Sans KR" panose="020B0200000000000000" pitchFamily="50" charset="-127"/>
              </a:rPr>
              <a:t> </a:t>
            </a:r>
            <a:r>
              <a:rPr lang="en-US" altLang="ko-KR" sz="2800" b="1" dirty="0">
                <a:latin typeface="+mj-lt"/>
                <a:ea typeface="Noto Sans KR" panose="020B0200000000000000" pitchFamily="50" charset="-127"/>
              </a:rPr>
              <a:t>24011917 </a:t>
            </a:r>
            <a:r>
              <a:rPr lang="ko-KR" altLang="en-US" sz="2800" b="1" dirty="0">
                <a:latin typeface="+mj-lt"/>
                <a:ea typeface="Noto Sans KR" panose="020B0200000000000000" pitchFamily="50" charset="-127"/>
              </a:rPr>
              <a:t>이지현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11CE325-C988-7DA6-F383-F2AFD042C652}"/>
              </a:ext>
            </a:extLst>
          </p:cNvPr>
          <p:cNvGrpSpPr/>
          <p:nvPr/>
        </p:nvGrpSpPr>
        <p:grpSpPr>
          <a:xfrm>
            <a:off x="170797" y="10332599"/>
            <a:ext cx="10051461" cy="6734924"/>
            <a:chOff x="170797" y="3475876"/>
            <a:chExt cx="10051461" cy="6734924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3BFB1DB2-328E-BB2A-BA1C-FE9FDC33F883}"/>
                </a:ext>
              </a:extLst>
            </p:cNvPr>
            <p:cNvSpPr/>
            <p:nvPr/>
          </p:nvSpPr>
          <p:spPr>
            <a:xfrm>
              <a:off x="170797" y="3475876"/>
              <a:ext cx="10051461" cy="6734924"/>
            </a:xfrm>
            <a:prstGeom prst="roundRect">
              <a:avLst>
                <a:gd name="adj" fmla="val 6599"/>
              </a:avLst>
            </a:prstGeom>
            <a:solidFill>
              <a:schemeClr val="bg1"/>
            </a:solidFill>
            <a:ln w="57150">
              <a:solidFill>
                <a:srgbClr val="848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120AB784-4718-FD5C-6E3C-10BB94D7940F}"/>
                </a:ext>
              </a:extLst>
            </p:cNvPr>
            <p:cNvCxnSpPr/>
            <p:nvPr/>
          </p:nvCxnSpPr>
          <p:spPr>
            <a:xfrm>
              <a:off x="170797" y="4607768"/>
              <a:ext cx="10051461" cy="0"/>
            </a:xfrm>
            <a:prstGeom prst="line">
              <a:avLst/>
            </a:prstGeom>
            <a:ln w="57150">
              <a:solidFill>
                <a:srgbClr val="84868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59ACA8E-D7DF-6D9D-E767-18DD879E7891}"/>
                </a:ext>
              </a:extLst>
            </p:cNvPr>
            <p:cNvSpPr txBox="1"/>
            <p:nvPr/>
          </p:nvSpPr>
          <p:spPr>
            <a:xfrm>
              <a:off x="2534580" y="3622168"/>
              <a:ext cx="53238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800" b="1" dirty="0">
                  <a:ea typeface="Noto Sans KR" panose="020B0200000000000000" pitchFamily="50" charset="-127"/>
                </a:rPr>
                <a:t>2. METHODOLOGY</a:t>
              </a:r>
              <a:endParaRPr lang="ko-KR" altLang="en-US" sz="4800" b="1" dirty="0">
                <a:ea typeface="Noto Sans KR" panose="020B0200000000000000" pitchFamily="50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3A42E3E-4BCA-B2DF-C436-C55844D63472}"/>
              </a:ext>
            </a:extLst>
          </p:cNvPr>
          <p:cNvSpPr txBox="1"/>
          <p:nvPr/>
        </p:nvSpPr>
        <p:spPr>
          <a:xfrm>
            <a:off x="486694" y="5028249"/>
            <a:ext cx="941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가나다라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9943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24</Words>
  <Application>Microsoft Office PowerPoint</Application>
  <PresentationFormat>사용자 지정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Noto Sans KR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윤석희</dc:creator>
  <cp:lastModifiedBy>이지현</cp:lastModifiedBy>
  <cp:revision>29</cp:revision>
  <dcterms:created xsi:type="dcterms:W3CDTF">2026-04-03T07:54:49Z</dcterms:created>
  <dcterms:modified xsi:type="dcterms:W3CDTF">2026-04-17T12:08:25Z</dcterms:modified>
</cp:coreProperties>
</file>