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F2FF"/>
    <a:srgbClr val="C9D5D5"/>
    <a:srgbClr val="F6F8F8"/>
    <a:srgbClr val="6DB3FF"/>
    <a:srgbClr val="00428E"/>
    <a:srgbClr val="2DA59A"/>
    <a:srgbClr val="12887B"/>
    <a:srgbClr val="0F110E"/>
    <a:srgbClr val="848683"/>
    <a:srgbClr val="B8E7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33" d="100"/>
          <a:sy n="33" d="100"/>
        </p:scale>
        <p:origin x="420" y="-3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1327E-1882-4BB9-BDAD-1A6731EEDA6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9CE6B-7511-4D6E-9C1B-04F7FDEF01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3938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1327E-1882-4BB9-BDAD-1A6731EEDA6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9CE6B-7511-4D6E-9C1B-04F7FDEF01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23733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1327E-1882-4BB9-BDAD-1A6731EEDA6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9CE6B-7511-4D6E-9C1B-04F7FDEF01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23598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1327E-1882-4BB9-BDAD-1A6731EEDA6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9CE6B-7511-4D6E-9C1B-04F7FDEF01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94347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1327E-1882-4BB9-BDAD-1A6731EEDA6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9CE6B-7511-4D6E-9C1B-04F7FDEF01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596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1327E-1882-4BB9-BDAD-1A6731EEDA6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9CE6B-7511-4D6E-9C1B-04F7FDEF01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7863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1327E-1882-4BB9-BDAD-1A6731EEDA6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9CE6B-7511-4D6E-9C1B-04F7FDEF01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2694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1327E-1882-4BB9-BDAD-1A6731EEDA6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9CE6B-7511-4D6E-9C1B-04F7FDEF01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67980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1327E-1882-4BB9-BDAD-1A6731EEDA6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9CE6B-7511-4D6E-9C1B-04F7FDEF01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824209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1327E-1882-4BB9-BDAD-1A6731EEDA6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9CE6B-7511-4D6E-9C1B-04F7FDEF01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0586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01327E-1882-4BB9-BDAD-1A6731EEDA6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9CE6B-7511-4D6E-9C1B-04F7FDEF01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19605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01327E-1882-4BB9-BDAD-1A6731EEDA67}" type="datetimeFigureOut">
              <a:rPr lang="ko-KR" altLang="en-US" smtClean="0"/>
              <a:t>2026-04-18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C9CE6B-7511-4D6E-9C1B-04F7FDEF01C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2071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138324" rtl="0" eaLnBrk="1" latinLnBrk="1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1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1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C8A113B3-832B-5364-8C99-5B52F12F5A7A}"/>
              </a:ext>
            </a:extLst>
          </p:cNvPr>
          <p:cNvSpPr/>
          <p:nvPr/>
        </p:nvSpPr>
        <p:spPr>
          <a:xfrm>
            <a:off x="0" y="0"/>
            <a:ext cx="21383625" cy="3309257"/>
          </a:xfrm>
          <a:prstGeom prst="rect">
            <a:avLst/>
          </a:prstGeom>
          <a:solidFill>
            <a:srgbClr val="E7F2FF"/>
          </a:solidFill>
          <a:ln>
            <a:solidFill>
              <a:srgbClr val="F6F8F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모서리 9">
            <a:extLst>
              <a:ext uri="{FF2B5EF4-FFF2-40B4-BE49-F238E27FC236}">
                <a16:creationId xmlns:a16="http://schemas.microsoft.com/office/drawing/2014/main" id="{527DE169-EAF3-886B-2C2B-9C58B0B1389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10377391" y="3475875"/>
            <a:ext cx="10835437" cy="21312913"/>
          </a:xfrm>
          <a:prstGeom prst="roundRect">
            <a:avLst>
              <a:gd name="adj" fmla="val 4966"/>
            </a:avLst>
          </a:prstGeom>
          <a:solidFill>
            <a:schemeClr val="bg1"/>
          </a:solidFill>
          <a:ln w="57150">
            <a:solidFill>
              <a:srgbClr val="84868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altLang="ko-KR" dirty="0"/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469D4C2A-FE3B-38EC-1460-8D63CE4553F3}"/>
              </a:ext>
            </a:extLst>
          </p:cNvPr>
          <p:cNvSpPr/>
          <p:nvPr/>
        </p:nvSpPr>
        <p:spPr>
          <a:xfrm>
            <a:off x="170797" y="17184318"/>
            <a:ext cx="10051461" cy="1281235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 w="57150">
            <a:solidFill>
              <a:srgbClr val="84868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8ACDADE-7F0C-5966-9761-A4E30C92A7E9}"/>
              </a:ext>
            </a:extLst>
          </p:cNvPr>
          <p:cNvSpPr/>
          <p:nvPr/>
        </p:nvSpPr>
        <p:spPr>
          <a:xfrm>
            <a:off x="10377391" y="24956438"/>
            <a:ext cx="10835437" cy="5022754"/>
          </a:xfrm>
          <a:prstGeom prst="roundRect">
            <a:avLst>
              <a:gd name="adj" fmla="val 10123"/>
            </a:avLst>
          </a:prstGeom>
          <a:solidFill>
            <a:schemeClr val="bg1"/>
          </a:solidFill>
          <a:ln w="57150">
            <a:solidFill>
              <a:srgbClr val="84868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3EE5DB84-9687-1DFE-F132-5A26E2FE3A24}"/>
              </a:ext>
            </a:extLst>
          </p:cNvPr>
          <p:cNvCxnSpPr/>
          <p:nvPr/>
        </p:nvCxnSpPr>
        <p:spPr>
          <a:xfrm>
            <a:off x="170797" y="18365299"/>
            <a:ext cx="10051461" cy="0"/>
          </a:xfrm>
          <a:prstGeom prst="line">
            <a:avLst/>
          </a:prstGeom>
          <a:ln w="57150">
            <a:solidFill>
              <a:srgbClr val="8486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D1CE9F61-25EF-5494-4BB1-016E4CE651AC}"/>
              </a:ext>
            </a:extLst>
          </p:cNvPr>
          <p:cNvCxnSpPr>
            <a:cxnSpLocks/>
          </p:cNvCxnSpPr>
          <p:nvPr/>
        </p:nvCxnSpPr>
        <p:spPr>
          <a:xfrm>
            <a:off x="10377391" y="26117098"/>
            <a:ext cx="10835437" cy="0"/>
          </a:xfrm>
          <a:prstGeom prst="line">
            <a:avLst/>
          </a:prstGeom>
          <a:ln w="57150">
            <a:solidFill>
              <a:srgbClr val="8486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B301B6DF-ED59-E70C-ECCC-0B46752784C7}"/>
              </a:ext>
            </a:extLst>
          </p:cNvPr>
          <p:cNvCxnSpPr>
            <a:cxnSpLocks/>
          </p:cNvCxnSpPr>
          <p:nvPr/>
        </p:nvCxnSpPr>
        <p:spPr>
          <a:xfrm>
            <a:off x="10382678" y="4652213"/>
            <a:ext cx="10796827" cy="0"/>
          </a:xfrm>
          <a:prstGeom prst="line">
            <a:avLst/>
          </a:prstGeom>
          <a:ln w="57150">
            <a:solidFill>
              <a:srgbClr val="84868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A178E629-1B23-E460-D193-24486370B0BD}"/>
              </a:ext>
            </a:extLst>
          </p:cNvPr>
          <p:cNvGrpSpPr/>
          <p:nvPr/>
        </p:nvGrpSpPr>
        <p:grpSpPr>
          <a:xfrm>
            <a:off x="170797" y="3475876"/>
            <a:ext cx="10051461" cy="4850938"/>
            <a:chOff x="170797" y="3475876"/>
            <a:chExt cx="10051461" cy="6734924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5162498B-F65B-2E6D-BC44-3A3CE5A19D1B}"/>
                </a:ext>
              </a:extLst>
            </p:cNvPr>
            <p:cNvSpPr/>
            <p:nvPr/>
          </p:nvSpPr>
          <p:spPr>
            <a:xfrm>
              <a:off x="170797" y="3475876"/>
              <a:ext cx="10051461" cy="6734924"/>
            </a:xfrm>
            <a:prstGeom prst="roundRect">
              <a:avLst>
                <a:gd name="adj" fmla="val 7475"/>
              </a:avLst>
            </a:prstGeom>
            <a:solidFill>
              <a:schemeClr val="bg1"/>
            </a:solidFill>
            <a:ln w="57150">
              <a:solidFill>
                <a:srgbClr val="84868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14" name="직선 연결선 13">
              <a:extLst>
                <a:ext uri="{FF2B5EF4-FFF2-40B4-BE49-F238E27FC236}">
                  <a16:creationId xmlns:a16="http://schemas.microsoft.com/office/drawing/2014/main" id="{F1E1C7D3-7500-BEAE-A503-AA4F5DBF4EC8}"/>
                </a:ext>
              </a:extLst>
            </p:cNvPr>
            <p:cNvCxnSpPr/>
            <p:nvPr/>
          </p:nvCxnSpPr>
          <p:spPr>
            <a:xfrm>
              <a:off x="170797" y="4933302"/>
              <a:ext cx="10051461" cy="0"/>
            </a:xfrm>
            <a:prstGeom prst="line">
              <a:avLst/>
            </a:prstGeom>
            <a:ln w="57150">
              <a:solidFill>
                <a:srgbClr val="84868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4051CE8-0575-E95C-3976-49C61024A8E3}"/>
                </a:ext>
              </a:extLst>
            </p:cNvPr>
            <p:cNvSpPr txBox="1"/>
            <p:nvPr/>
          </p:nvSpPr>
          <p:spPr>
            <a:xfrm>
              <a:off x="2581626" y="3712851"/>
              <a:ext cx="5229800" cy="8393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4800" b="1" dirty="0">
                  <a:ea typeface="Noto Sans KR" panose="020B0200000000000000" pitchFamily="50" charset="-127"/>
                </a:rPr>
                <a:t>1. INTRODICTION</a:t>
              </a:r>
              <a:endParaRPr lang="ko-KR" altLang="en-US" sz="4800" b="1" dirty="0">
                <a:ea typeface="Noto Sans KR" panose="020B0200000000000000" pitchFamily="50" charset="-127"/>
              </a:endParaRPr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2F8CE296-AA52-6755-AE16-1AA6213839F6}"/>
              </a:ext>
            </a:extLst>
          </p:cNvPr>
          <p:cNvSpPr txBox="1"/>
          <p:nvPr/>
        </p:nvSpPr>
        <p:spPr>
          <a:xfrm>
            <a:off x="14547012" y="3622168"/>
            <a:ext cx="24961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800" b="1" dirty="0">
                <a:ea typeface="Noto Sans KR" panose="020B0200000000000000" pitchFamily="50" charset="-127"/>
              </a:rPr>
              <a:t>4. CODE</a:t>
            </a:r>
            <a:endParaRPr lang="ko-KR" altLang="en-US" sz="4800" b="1" dirty="0">
              <a:ea typeface="Noto Sans KR" panose="020B0200000000000000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B20FDB-03A1-BF09-8749-0BEEE50753E2}"/>
              </a:ext>
            </a:extLst>
          </p:cNvPr>
          <p:cNvSpPr txBox="1"/>
          <p:nvPr/>
        </p:nvSpPr>
        <p:spPr>
          <a:xfrm>
            <a:off x="3542872" y="17355155"/>
            <a:ext cx="330731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800" b="1" dirty="0">
                <a:ea typeface="Noto Sans KR" panose="020B0200000000000000" pitchFamily="50" charset="-127"/>
              </a:rPr>
              <a:t>3. RESULTS</a:t>
            </a:r>
            <a:endParaRPr lang="ko-KR" altLang="en-US" sz="4800" b="1" dirty="0">
              <a:ea typeface="Noto Sans KR" panose="020B0200000000000000" pitchFamily="50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B86C4E-5690-44F3-F996-2501CE2A7E84}"/>
              </a:ext>
            </a:extLst>
          </p:cNvPr>
          <p:cNvSpPr txBox="1"/>
          <p:nvPr/>
        </p:nvSpPr>
        <p:spPr>
          <a:xfrm>
            <a:off x="13412892" y="25118453"/>
            <a:ext cx="47644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4800" b="1" dirty="0">
                <a:ea typeface="Noto Sans KR" panose="020B0200000000000000" pitchFamily="50" charset="-127"/>
              </a:rPr>
              <a:t>5. CONCLUSION</a:t>
            </a:r>
            <a:endParaRPr lang="ko-KR" altLang="en-US" sz="4800" b="1" dirty="0">
              <a:ea typeface="Noto Sans KR" panose="020B0200000000000000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C024CC6-5EAF-0006-94E0-BA844575DC09}"/>
              </a:ext>
            </a:extLst>
          </p:cNvPr>
          <p:cNvSpPr txBox="1"/>
          <p:nvPr/>
        </p:nvSpPr>
        <p:spPr>
          <a:xfrm>
            <a:off x="2621333" y="296021"/>
            <a:ext cx="16140957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1500" b="1" dirty="0">
                <a:solidFill>
                  <a:srgbClr val="00428E"/>
                </a:solidFill>
                <a:latin typeface="+mj-lt"/>
                <a:ea typeface="Noto Sans KR" panose="020B0200000000000000" pitchFamily="50" charset="-127"/>
              </a:rPr>
              <a:t>IMAGE</a:t>
            </a:r>
            <a:r>
              <a:rPr lang="ko-KR" altLang="en-US" sz="11500" b="1" dirty="0">
                <a:solidFill>
                  <a:srgbClr val="00428E"/>
                </a:solidFill>
                <a:latin typeface="+mj-lt"/>
                <a:ea typeface="Noto Sans KR" panose="020B0200000000000000" pitchFamily="50" charset="-127"/>
              </a:rPr>
              <a:t>를 사용한 감정 분류</a:t>
            </a:r>
          </a:p>
        </p:txBody>
      </p:sp>
      <p:cxnSp>
        <p:nvCxnSpPr>
          <p:cNvPr id="27" name="직선 연결선 26">
            <a:extLst>
              <a:ext uri="{FF2B5EF4-FFF2-40B4-BE49-F238E27FC236}">
                <a16:creationId xmlns:a16="http://schemas.microsoft.com/office/drawing/2014/main" id="{2B1747B1-8F3B-FE99-C536-5BE2B26BA2FC}"/>
              </a:ext>
            </a:extLst>
          </p:cNvPr>
          <p:cNvCxnSpPr/>
          <p:nvPr/>
        </p:nvCxnSpPr>
        <p:spPr>
          <a:xfrm>
            <a:off x="-14514" y="2324100"/>
            <a:ext cx="7928819" cy="0"/>
          </a:xfrm>
          <a:prstGeom prst="line">
            <a:avLst/>
          </a:prstGeom>
          <a:ln w="76200">
            <a:solidFill>
              <a:srgbClr val="00428E"/>
            </a:solidFill>
            <a:headEnd type="none" w="med" len="med"/>
            <a:tailEnd type="oval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159B3FDC-1CF9-AE31-93B3-99FE674F1A19}"/>
              </a:ext>
            </a:extLst>
          </p:cNvPr>
          <p:cNvSpPr txBox="1"/>
          <p:nvPr/>
        </p:nvSpPr>
        <p:spPr>
          <a:xfrm>
            <a:off x="245996" y="2488344"/>
            <a:ext cx="71577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800" b="1" dirty="0" err="1">
                <a:latin typeface="+mj-lt"/>
                <a:ea typeface="Noto Sans KR" panose="020B0200000000000000" pitchFamily="50" charset="-127"/>
              </a:rPr>
              <a:t>인공지능데이터사이언스학과</a:t>
            </a:r>
            <a:r>
              <a:rPr lang="ko-KR" altLang="en-US" sz="2800" b="1" dirty="0">
                <a:latin typeface="+mj-lt"/>
                <a:ea typeface="Noto Sans KR" panose="020B0200000000000000" pitchFamily="50" charset="-127"/>
              </a:rPr>
              <a:t> </a:t>
            </a:r>
            <a:r>
              <a:rPr lang="en-US" altLang="ko-KR" sz="2800" b="1" dirty="0">
                <a:latin typeface="+mj-lt"/>
                <a:ea typeface="Noto Sans KR" panose="020B0200000000000000" pitchFamily="50" charset="-127"/>
              </a:rPr>
              <a:t>24011917 </a:t>
            </a:r>
            <a:r>
              <a:rPr lang="ko-KR" altLang="en-US" sz="2800" b="1" dirty="0">
                <a:latin typeface="+mj-lt"/>
                <a:ea typeface="Noto Sans KR" panose="020B0200000000000000" pitchFamily="50" charset="-127"/>
              </a:rPr>
              <a:t>이지현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D11CE325-C988-7DA6-F383-F2AFD042C652}"/>
              </a:ext>
            </a:extLst>
          </p:cNvPr>
          <p:cNvGrpSpPr/>
          <p:nvPr/>
        </p:nvGrpSpPr>
        <p:grpSpPr>
          <a:xfrm>
            <a:off x="170797" y="8443609"/>
            <a:ext cx="10051461" cy="8623914"/>
            <a:chOff x="170797" y="3475876"/>
            <a:chExt cx="10051461" cy="6734924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3BFB1DB2-328E-BB2A-BA1C-FE9FDC33F883}"/>
                </a:ext>
              </a:extLst>
            </p:cNvPr>
            <p:cNvSpPr/>
            <p:nvPr/>
          </p:nvSpPr>
          <p:spPr>
            <a:xfrm>
              <a:off x="170797" y="3475876"/>
              <a:ext cx="10051461" cy="6734924"/>
            </a:xfrm>
            <a:prstGeom prst="roundRect">
              <a:avLst>
                <a:gd name="adj" fmla="val 6599"/>
              </a:avLst>
            </a:prstGeom>
            <a:solidFill>
              <a:schemeClr val="bg1"/>
            </a:solidFill>
            <a:ln w="57150">
              <a:solidFill>
                <a:srgbClr val="84868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5" name="직선 연결선 4">
              <a:extLst>
                <a:ext uri="{FF2B5EF4-FFF2-40B4-BE49-F238E27FC236}">
                  <a16:creationId xmlns:a16="http://schemas.microsoft.com/office/drawing/2014/main" id="{120AB784-4718-FD5C-6E3C-10BB94D7940F}"/>
                </a:ext>
              </a:extLst>
            </p:cNvPr>
            <p:cNvCxnSpPr/>
            <p:nvPr/>
          </p:nvCxnSpPr>
          <p:spPr>
            <a:xfrm>
              <a:off x="170797" y="4303416"/>
              <a:ext cx="10051461" cy="0"/>
            </a:xfrm>
            <a:prstGeom prst="line">
              <a:avLst/>
            </a:prstGeom>
            <a:ln w="57150">
              <a:solidFill>
                <a:srgbClr val="848683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59ACA8E-D7DF-6D9D-E767-18DD879E7891}"/>
                </a:ext>
              </a:extLst>
            </p:cNvPr>
            <p:cNvSpPr txBox="1"/>
            <p:nvPr/>
          </p:nvSpPr>
          <p:spPr>
            <a:xfrm>
              <a:off x="2534580" y="3622168"/>
              <a:ext cx="5323894" cy="83099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4800" b="1" dirty="0">
                  <a:ea typeface="Noto Sans KR" panose="020B0200000000000000" pitchFamily="50" charset="-127"/>
                </a:rPr>
                <a:t>2. METHODOLOGY</a:t>
              </a:r>
              <a:endParaRPr lang="ko-KR" altLang="en-US" sz="4800" b="1" dirty="0">
                <a:ea typeface="Noto Sans KR" panose="020B0200000000000000" pitchFamily="50" charset="-127"/>
              </a:endParaRP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D3A42E3E-4BCA-B2DF-C436-C55844D63472}"/>
              </a:ext>
            </a:extLst>
          </p:cNvPr>
          <p:cNvSpPr txBox="1"/>
          <p:nvPr/>
        </p:nvSpPr>
        <p:spPr>
          <a:xfrm>
            <a:off x="300051" y="4750867"/>
            <a:ext cx="9792949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800" dirty="0"/>
              <a:t>[</a:t>
            </a:r>
            <a:r>
              <a:rPr lang="ko-KR" altLang="en-US" sz="2800" dirty="0"/>
              <a:t>목적</a:t>
            </a:r>
            <a:r>
              <a:rPr lang="en-US" altLang="ko-KR" sz="2800" dirty="0"/>
              <a:t>]</a:t>
            </a:r>
          </a:p>
          <a:p>
            <a:pPr algn="just"/>
            <a:endParaRPr lang="en-US" altLang="ko-KR" sz="2800" dirty="0"/>
          </a:p>
          <a:p>
            <a:pPr algn="just"/>
            <a:r>
              <a:rPr lang="en-US" altLang="ko-KR" sz="2800" dirty="0"/>
              <a:t>[</a:t>
            </a:r>
            <a:r>
              <a:rPr lang="ko-KR" altLang="en-US" sz="2800" dirty="0"/>
              <a:t>데이터셋</a:t>
            </a:r>
            <a:r>
              <a:rPr lang="en-US" altLang="ko-KR" sz="2800" dirty="0"/>
              <a:t>]</a:t>
            </a:r>
          </a:p>
          <a:p>
            <a:pPr algn="just"/>
            <a:endParaRPr lang="en-US" altLang="ko-KR" sz="2800" dirty="0"/>
          </a:p>
          <a:p>
            <a:pPr algn="just"/>
            <a:r>
              <a:rPr lang="en-US" altLang="ko-KR" sz="2800" dirty="0"/>
              <a:t>[</a:t>
            </a:r>
            <a:r>
              <a:rPr lang="ko-KR" altLang="en-US" sz="2800" dirty="0" err="1"/>
              <a:t>전처리</a:t>
            </a:r>
            <a:r>
              <a:rPr lang="en-US" altLang="ko-KR" sz="2800" dirty="0"/>
              <a:t>]</a:t>
            </a:r>
          </a:p>
          <a:p>
            <a:pPr algn="just"/>
            <a:endParaRPr lang="en-US" altLang="ko-KR" sz="2800" dirty="0"/>
          </a:p>
          <a:p>
            <a:pPr algn="just"/>
            <a:r>
              <a:rPr lang="en-US" altLang="ko-KR" sz="2800" dirty="0"/>
              <a:t>[</a:t>
            </a:r>
            <a:r>
              <a:rPr lang="ko-KR" altLang="en-US" sz="2800" dirty="0"/>
              <a:t>라벨</a:t>
            </a:r>
            <a:r>
              <a:rPr lang="en-US" altLang="ko-KR" sz="2800" dirty="0"/>
              <a:t>]</a:t>
            </a:r>
            <a:endParaRPr lang="ko-KR" altLang="en-US" sz="28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E808054-891D-CBA4-47A9-C72487252D45}"/>
              </a:ext>
            </a:extLst>
          </p:cNvPr>
          <p:cNvSpPr txBox="1"/>
          <p:nvPr/>
        </p:nvSpPr>
        <p:spPr>
          <a:xfrm>
            <a:off x="10477932" y="26284747"/>
            <a:ext cx="1063435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800" dirty="0"/>
              <a:t>[</a:t>
            </a:r>
            <a:r>
              <a:rPr lang="ko-KR" altLang="en-US" sz="2800" dirty="0"/>
              <a:t>최고 성능</a:t>
            </a:r>
            <a:r>
              <a:rPr lang="en-US" altLang="ko-KR" sz="2800" dirty="0"/>
              <a:t>] </a:t>
            </a:r>
          </a:p>
          <a:p>
            <a:pPr algn="just"/>
            <a:r>
              <a:rPr lang="en-US" altLang="ko-KR" sz="2800" dirty="0"/>
              <a:t>Model: EfficientNet-B0</a:t>
            </a:r>
          </a:p>
          <a:p>
            <a:pPr algn="just"/>
            <a:r>
              <a:rPr lang="en-US" altLang="ko-KR" sz="2800" dirty="0"/>
              <a:t>Best Config: Adam, </a:t>
            </a:r>
            <a:r>
              <a:rPr lang="en-US" altLang="ko-KR" sz="2800" dirty="0" err="1"/>
              <a:t>lr</a:t>
            </a:r>
            <a:r>
              <a:rPr lang="en-US" altLang="ko-KR" sz="2800" dirty="0"/>
              <a:t>=1e-4, epoch=20 </a:t>
            </a:r>
          </a:p>
          <a:p>
            <a:pPr algn="just"/>
            <a:r>
              <a:rPr lang="en-US" altLang="ko-KR" sz="2800" dirty="0"/>
              <a:t>Test Accuracy: XX.X%</a:t>
            </a:r>
          </a:p>
          <a:p>
            <a:pPr algn="just"/>
            <a:r>
              <a:rPr lang="en-US" altLang="ko-KR" sz="2800" dirty="0"/>
              <a:t> 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D37C515-6B8F-28D4-FE34-694040921CE1}"/>
              </a:ext>
            </a:extLst>
          </p:cNvPr>
          <p:cNvSpPr txBox="1"/>
          <p:nvPr/>
        </p:nvSpPr>
        <p:spPr>
          <a:xfrm>
            <a:off x="340966" y="9674093"/>
            <a:ext cx="9792949" cy="70173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500" dirty="0"/>
              <a:t>[</a:t>
            </a:r>
            <a:r>
              <a:rPr lang="ko-KR" altLang="en-US" sz="2500" dirty="0"/>
              <a:t>데이터 </a:t>
            </a:r>
            <a:r>
              <a:rPr lang="ko-KR" altLang="en-US" sz="2500" dirty="0" err="1"/>
              <a:t>전처리</a:t>
            </a:r>
            <a:r>
              <a:rPr lang="ko-KR" altLang="en-US" sz="2500" dirty="0"/>
              <a:t> 파이프라인</a:t>
            </a:r>
            <a:r>
              <a:rPr lang="en-US" altLang="ko-KR" sz="2500" dirty="0"/>
              <a:t>]</a:t>
            </a:r>
          </a:p>
          <a:p>
            <a:pPr algn="just"/>
            <a:r>
              <a:rPr lang="en-US" altLang="ko-KR" sz="2500" dirty="0" err="1"/>
              <a:t>face_crop</a:t>
            </a:r>
            <a:r>
              <a:rPr lang="en-US" altLang="ko-KR" sz="2500" dirty="0"/>
              <a:t>, padding, denoise, sharpen </a:t>
            </a:r>
          </a:p>
          <a:p>
            <a:pPr algn="just"/>
            <a:endParaRPr lang="ko-KR" altLang="en-US" sz="2500" dirty="0"/>
          </a:p>
          <a:p>
            <a:pPr algn="just"/>
            <a:r>
              <a:rPr lang="en-US" altLang="ko-KR" sz="2500" dirty="0"/>
              <a:t>[</a:t>
            </a:r>
            <a:r>
              <a:rPr lang="ko-KR" altLang="en-US" sz="2500" dirty="0"/>
              <a:t>데이터 증강 </a:t>
            </a:r>
            <a:r>
              <a:rPr lang="en-US" altLang="ko-KR" sz="2500" dirty="0"/>
              <a:t>- </a:t>
            </a:r>
            <a:r>
              <a:rPr lang="ko-KR" altLang="en-US" sz="2500" dirty="0"/>
              <a:t>훈련셋만 적용</a:t>
            </a:r>
            <a:r>
              <a:rPr lang="en-US" altLang="ko-KR" sz="2500" dirty="0"/>
              <a:t>]</a:t>
            </a:r>
          </a:p>
          <a:p>
            <a:pPr algn="just"/>
            <a:r>
              <a:rPr lang="en-US" altLang="ko-KR" sz="2500" dirty="0" err="1"/>
              <a:t>RandomHorizontalFlip</a:t>
            </a:r>
            <a:r>
              <a:rPr lang="en-US" altLang="ko-KR" sz="2500" dirty="0"/>
              <a:t> / </a:t>
            </a:r>
            <a:r>
              <a:rPr lang="en-US" altLang="ko-KR" sz="2500" dirty="0" err="1"/>
              <a:t>RandomRotation</a:t>
            </a:r>
            <a:r>
              <a:rPr lang="en-US" altLang="ko-KR" sz="2500" dirty="0"/>
              <a:t>(±15°) /</a:t>
            </a:r>
          </a:p>
          <a:p>
            <a:pPr algn="just"/>
            <a:r>
              <a:rPr lang="en-US" altLang="ko-KR" sz="2500" dirty="0" err="1"/>
              <a:t>ColorJitter</a:t>
            </a:r>
            <a:r>
              <a:rPr lang="en-US" altLang="ko-KR" sz="2500" dirty="0"/>
              <a:t> / </a:t>
            </a:r>
            <a:r>
              <a:rPr lang="en-US" altLang="ko-KR" sz="2500" dirty="0" err="1"/>
              <a:t>RandomAffine</a:t>
            </a:r>
            <a:r>
              <a:rPr lang="en-US" altLang="ko-KR" sz="2500" dirty="0"/>
              <a:t> / ImageNet </a:t>
            </a:r>
            <a:r>
              <a:rPr lang="ko-KR" altLang="en-US" sz="2500" dirty="0"/>
              <a:t>정규화</a:t>
            </a:r>
          </a:p>
          <a:p>
            <a:pPr algn="just"/>
            <a:r>
              <a:rPr lang="en-US" altLang="ko-KR" sz="2500" dirty="0"/>
              <a:t>(μ=0.485/0.456/0.406, σ=0.229/0.224/0.225)</a:t>
            </a:r>
          </a:p>
          <a:p>
            <a:pPr algn="just"/>
            <a:endParaRPr lang="en-US" altLang="ko-KR" sz="2500" dirty="0"/>
          </a:p>
          <a:p>
            <a:pPr algn="just"/>
            <a:r>
              <a:rPr lang="en-US" altLang="ko-KR" sz="2500" dirty="0"/>
              <a:t>[</a:t>
            </a:r>
            <a:r>
              <a:rPr lang="ko-KR" altLang="en-US" sz="2500" dirty="0"/>
              <a:t>모델 구조 </a:t>
            </a:r>
            <a:r>
              <a:rPr lang="en-US" altLang="ko-KR" sz="2500" dirty="0"/>
              <a:t>- EfficientNet-B0]</a:t>
            </a:r>
          </a:p>
          <a:p>
            <a:pPr algn="just"/>
            <a:r>
              <a:rPr lang="en-US" altLang="ko-KR" sz="2500" dirty="0"/>
              <a:t>ImageNet pretrained </a:t>
            </a:r>
            <a:r>
              <a:rPr lang="ko-KR" altLang="en-US" sz="2500" dirty="0"/>
              <a:t>가중치 로드 →마지막 </a:t>
            </a:r>
            <a:r>
              <a:rPr lang="en-US" altLang="ko-KR" sz="2500" dirty="0"/>
              <a:t>FC </a:t>
            </a:r>
            <a:r>
              <a:rPr lang="ko-KR" altLang="en-US" sz="2500" dirty="0"/>
              <a:t>레이어를 </a:t>
            </a:r>
            <a:r>
              <a:rPr lang="en-US" altLang="ko-KR" sz="2500" dirty="0"/>
              <a:t>2-class</a:t>
            </a:r>
            <a:r>
              <a:rPr lang="ko-KR" altLang="en-US" sz="2500" dirty="0"/>
              <a:t>로 교체 후 전체 </a:t>
            </a:r>
            <a:r>
              <a:rPr lang="en-US" altLang="ko-KR" sz="2500" dirty="0"/>
              <a:t>fine-tuning</a:t>
            </a:r>
          </a:p>
          <a:p>
            <a:pPr algn="just"/>
            <a:r>
              <a:rPr lang="ko-KR" altLang="en-US" sz="2500" dirty="0"/>
              <a:t>파라미터 수</a:t>
            </a:r>
            <a:r>
              <a:rPr lang="en-US" altLang="ko-KR" sz="2500" dirty="0"/>
              <a:t>: </a:t>
            </a:r>
            <a:r>
              <a:rPr lang="ko-KR" altLang="en-US" sz="2500" dirty="0"/>
              <a:t>약 </a:t>
            </a:r>
            <a:r>
              <a:rPr lang="en-US" altLang="ko-KR" sz="2500" dirty="0"/>
              <a:t>4M  (</a:t>
            </a:r>
            <a:r>
              <a:rPr lang="en-US" altLang="ko-KR" sz="2500" dirty="0" err="1"/>
              <a:t>AlexNet</a:t>
            </a:r>
            <a:r>
              <a:rPr lang="en-US" altLang="ko-KR" sz="2500" dirty="0"/>
              <a:t> 57M </a:t>
            </a:r>
            <a:r>
              <a:rPr lang="ko-KR" altLang="en-US" sz="2500" dirty="0"/>
              <a:t>대비 약 </a:t>
            </a:r>
            <a:r>
              <a:rPr lang="en-US" altLang="ko-KR" sz="2500" dirty="0"/>
              <a:t>14</a:t>
            </a:r>
            <a:r>
              <a:rPr lang="ko-KR" altLang="en-US" sz="2500" dirty="0"/>
              <a:t>배 경량</a:t>
            </a:r>
            <a:r>
              <a:rPr lang="en-US" altLang="ko-KR" sz="2500" dirty="0"/>
              <a:t>)</a:t>
            </a:r>
          </a:p>
          <a:p>
            <a:pPr algn="just"/>
            <a:endParaRPr lang="en-US" altLang="ko-KR" sz="2500" dirty="0"/>
          </a:p>
          <a:p>
            <a:pPr algn="just"/>
            <a:r>
              <a:rPr lang="en-US" altLang="ko-KR" sz="2500" dirty="0"/>
              <a:t>[</a:t>
            </a:r>
            <a:r>
              <a:rPr lang="ko-KR" altLang="en-US" sz="2500" dirty="0" err="1"/>
              <a:t>하이퍼파라미터</a:t>
            </a:r>
            <a:r>
              <a:rPr lang="ko-KR" altLang="en-US" sz="2500" dirty="0"/>
              <a:t> 탐색 </a:t>
            </a:r>
            <a:r>
              <a:rPr lang="en-US" altLang="ko-KR" sz="2500" dirty="0"/>
              <a:t>- Grid Search]</a:t>
            </a:r>
          </a:p>
          <a:p>
            <a:pPr algn="just"/>
            <a:r>
              <a:rPr lang="en-US" altLang="ko-KR" sz="2500" dirty="0"/>
              <a:t>Optimizer : Adam / SGD</a:t>
            </a:r>
          </a:p>
          <a:p>
            <a:pPr algn="just"/>
            <a:r>
              <a:rPr lang="en-US" altLang="ko-KR" sz="2500" dirty="0"/>
              <a:t>LR        : 1e-3 / 1e-4 / 1e-5</a:t>
            </a:r>
          </a:p>
          <a:p>
            <a:pPr algn="just"/>
            <a:r>
              <a:rPr lang="en-US" altLang="ko-KR" sz="2500" dirty="0"/>
              <a:t>Epochs    : 5 / 10 / 15 / 20</a:t>
            </a:r>
          </a:p>
          <a:p>
            <a:pPr algn="just"/>
            <a:r>
              <a:rPr lang="ko-KR" altLang="en-US" sz="2500" dirty="0"/>
              <a:t>총 </a:t>
            </a:r>
            <a:r>
              <a:rPr lang="en-US" altLang="ko-KR" sz="2500" dirty="0"/>
              <a:t>24</a:t>
            </a:r>
            <a:r>
              <a:rPr lang="ko-KR" altLang="en-US" sz="2500" dirty="0"/>
              <a:t>가지 조합 순차 실험 → </a:t>
            </a:r>
            <a:r>
              <a:rPr lang="en-US" altLang="ko-KR" sz="2500" dirty="0"/>
              <a:t>Best: Adam, </a:t>
            </a:r>
            <a:r>
              <a:rPr lang="en-US" altLang="ko-KR" sz="2500" dirty="0" err="1"/>
              <a:t>lr</a:t>
            </a:r>
            <a:r>
              <a:rPr lang="en-US" altLang="ko-KR" sz="2500" dirty="0"/>
              <a:t>=1e-4, epoch=10</a:t>
            </a:r>
            <a:endParaRPr lang="ko-KR" altLang="en-US" sz="25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C631EC-B41F-2ED0-747F-85C964265FEA}"/>
              </a:ext>
            </a:extLst>
          </p:cNvPr>
          <p:cNvSpPr txBox="1"/>
          <p:nvPr/>
        </p:nvSpPr>
        <p:spPr>
          <a:xfrm>
            <a:off x="429309" y="18672495"/>
            <a:ext cx="9792949" cy="58631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500" dirty="0"/>
              <a:t>[</a:t>
            </a:r>
            <a:r>
              <a:rPr lang="ko-KR" altLang="en-US" sz="2500" dirty="0" err="1"/>
              <a:t>모델별</a:t>
            </a:r>
            <a:r>
              <a:rPr lang="ko-KR" altLang="en-US" sz="2500" dirty="0"/>
              <a:t> </a:t>
            </a:r>
            <a:r>
              <a:rPr lang="en-US" altLang="ko-KR" sz="2500" dirty="0"/>
              <a:t>Test Accuracy </a:t>
            </a:r>
            <a:r>
              <a:rPr lang="ko-KR" altLang="en-US" sz="2500" dirty="0"/>
              <a:t>비교</a:t>
            </a:r>
            <a:r>
              <a:rPr lang="en-US" altLang="ko-KR" sz="2500" dirty="0"/>
              <a:t>]</a:t>
            </a:r>
          </a:p>
          <a:p>
            <a:pPr algn="just"/>
            <a:r>
              <a:rPr lang="en-US" altLang="ko-KR" sz="2500" dirty="0"/>
              <a:t>  </a:t>
            </a:r>
            <a:r>
              <a:rPr lang="en-US" altLang="ko-KR" sz="2500" dirty="0" err="1"/>
              <a:t>SimpleCNN</a:t>
            </a:r>
            <a:r>
              <a:rPr lang="en-US" altLang="ko-KR" sz="2500" dirty="0"/>
              <a:t> (</a:t>
            </a:r>
            <a:r>
              <a:rPr lang="en-US" altLang="ko-KR" sz="2500" dirty="0" err="1"/>
              <a:t>MaxPool+Dropout</a:t>
            </a:r>
            <a:r>
              <a:rPr lang="en-US" altLang="ko-KR" sz="2500" dirty="0"/>
              <a:t>) : 55.9%</a:t>
            </a:r>
          </a:p>
          <a:p>
            <a:pPr algn="just"/>
            <a:r>
              <a:rPr lang="en-US" altLang="ko-KR" sz="2500" dirty="0"/>
              <a:t>  </a:t>
            </a:r>
            <a:r>
              <a:rPr lang="en-US" altLang="ko-KR" sz="2500" dirty="0" err="1"/>
              <a:t>SimpleCNN</a:t>
            </a:r>
            <a:r>
              <a:rPr lang="en-US" altLang="ko-KR" sz="2500" dirty="0"/>
              <a:t> (</a:t>
            </a:r>
            <a:r>
              <a:rPr lang="en-US" altLang="ko-KR" sz="2500" dirty="0" err="1"/>
              <a:t>AvgPool</a:t>
            </a:r>
            <a:r>
              <a:rPr lang="en-US" altLang="ko-KR" sz="2500" dirty="0"/>
              <a:t>)         : 60.7%</a:t>
            </a:r>
          </a:p>
          <a:p>
            <a:pPr algn="just"/>
            <a:r>
              <a:rPr lang="en-US" altLang="ko-KR" sz="2500" dirty="0"/>
              <a:t>  </a:t>
            </a:r>
            <a:r>
              <a:rPr lang="en-US" altLang="ko-KR" sz="2500" dirty="0" err="1"/>
              <a:t>AlexNet</a:t>
            </a:r>
            <a:r>
              <a:rPr lang="en-US" altLang="ko-KR" sz="2500" dirty="0"/>
              <a:t> (baseline)          : 57.3%</a:t>
            </a:r>
          </a:p>
          <a:p>
            <a:pPr algn="just"/>
            <a:r>
              <a:rPr lang="en-US" altLang="ko-KR" sz="2500" dirty="0"/>
              <a:t>  EfficientNet-B0 (my model)  : 68.4%  ★</a:t>
            </a:r>
          </a:p>
          <a:p>
            <a:pPr algn="just"/>
            <a:endParaRPr lang="en-US" altLang="ko-KR" sz="2500" dirty="0"/>
          </a:p>
          <a:p>
            <a:pPr algn="just"/>
            <a:r>
              <a:rPr lang="en-US" altLang="ko-KR" sz="2500" dirty="0"/>
              <a:t>[</a:t>
            </a:r>
            <a:r>
              <a:rPr lang="ko-KR" altLang="en-US" sz="2500" dirty="0" err="1"/>
              <a:t>하이퍼파라미터</a:t>
            </a:r>
            <a:r>
              <a:rPr lang="ko-KR" altLang="en-US" sz="2500" dirty="0"/>
              <a:t> 실험 요약</a:t>
            </a:r>
            <a:r>
              <a:rPr lang="en-US" altLang="ko-KR" sz="2500" dirty="0"/>
              <a:t>]</a:t>
            </a:r>
          </a:p>
          <a:p>
            <a:pPr algn="just"/>
            <a:r>
              <a:rPr lang="en-US" altLang="ko-KR" sz="2500" dirty="0"/>
              <a:t>  - Adam</a:t>
            </a:r>
            <a:r>
              <a:rPr lang="ko-KR" altLang="en-US" sz="2500" dirty="0"/>
              <a:t>이 </a:t>
            </a:r>
            <a:r>
              <a:rPr lang="en-US" altLang="ko-KR" sz="2500" dirty="0"/>
              <a:t>SGD </a:t>
            </a:r>
            <a:r>
              <a:rPr lang="ko-KR" altLang="en-US" sz="2500" dirty="0"/>
              <a:t>대비 전반적으로 높은 정확도</a:t>
            </a:r>
          </a:p>
          <a:p>
            <a:pPr algn="just"/>
            <a:r>
              <a:rPr lang="ko-KR" altLang="en-US" sz="2500" dirty="0"/>
              <a:t>  </a:t>
            </a:r>
            <a:r>
              <a:rPr lang="en-US" altLang="ko-KR" sz="2500" dirty="0"/>
              <a:t>- </a:t>
            </a:r>
            <a:r>
              <a:rPr lang="en-US" altLang="ko-KR" sz="2500" dirty="0" err="1"/>
              <a:t>lr</a:t>
            </a:r>
            <a:r>
              <a:rPr lang="en-US" altLang="ko-KR" sz="2500" dirty="0"/>
              <a:t>=1e-4</a:t>
            </a:r>
            <a:r>
              <a:rPr lang="ko-KR" altLang="en-US" sz="2500" dirty="0"/>
              <a:t>에서 가장 안정적인 수렴</a:t>
            </a:r>
          </a:p>
          <a:p>
            <a:pPr algn="just"/>
            <a:r>
              <a:rPr lang="ko-KR" altLang="en-US" sz="2500" dirty="0"/>
              <a:t>  </a:t>
            </a:r>
            <a:r>
              <a:rPr lang="en-US" altLang="ko-KR" sz="2500" dirty="0"/>
              <a:t>- epoch </a:t>
            </a:r>
            <a:r>
              <a:rPr lang="ko-KR" altLang="en-US" sz="2500" dirty="0"/>
              <a:t>증가에 따른 성능 향상은 </a:t>
            </a:r>
            <a:r>
              <a:rPr lang="en-US" altLang="ko-KR" sz="2500" dirty="0"/>
              <a:t>10 </a:t>
            </a:r>
            <a:r>
              <a:rPr lang="ko-KR" altLang="en-US" sz="2500" dirty="0"/>
              <a:t>이후 포화</a:t>
            </a:r>
          </a:p>
          <a:p>
            <a:pPr algn="just"/>
            <a:endParaRPr lang="ko-KR" altLang="en-US" sz="2500" dirty="0"/>
          </a:p>
          <a:p>
            <a:pPr algn="just"/>
            <a:r>
              <a:rPr lang="en-US" altLang="ko-KR" sz="2500" dirty="0"/>
              <a:t>[</a:t>
            </a:r>
            <a:r>
              <a:rPr lang="ko-KR" altLang="en-US" sz="2500" dirty="0"/>
              <a:t>파라미터 수 비교</a:t>
            </a:r>
            <a:r>
              <a:rPr lang="en-US" altLang="ko-KR" sz="2500" dirty="0"/>
              <a:t>]</a:t>
            </a:r>
          </a:p>
          <a:p>
            <a:pPr algn="just"/>
            <a:r>
              <a:rPr lang="en-US" altLang="ko-KR" sz="2500" dirty="0"/>
              <a:t>  </a:t>
            </a:r>
            <a:r>
              <a:rPr lang="en-US" altLang="ko-KR" sz="2500" dirty="0" err="1"/>
              <a:t>SimpleCNN</a:t>
            </a:r>
            <a:r>
              <a:rPr lang="en-US" altLang="ko-KR" sz="2500" dirty="0"/>
              <a:t> : </a:t>
            </a:r>
            <a:r>
              <a:rPr lang="ko-KR" altLang="en-US" sz="2500" dirty="0"/>
              <a:t>약 </a:t>
            </a:r>
            <a:r>
              <a:rPr lang="en-US" altLang="ko-KR" sz="2500" dirty="0"/>
              <a:t>6.5M</a:t>
            </a:r>
          </a:p>
          <a:p>
            <a:pPr algn="just"/>
            <a:r>
              <a:rPr lang="en-US" altLang="ko-KR" sz="2500" dirty="0"/>
              <a:t>  </a:t>
            </a:r>
            <a:r>
              <a:rPr lang="en-US" altLang="ko-KR" sz="2500" dirty="0" err="1"/>
              <a:t>AlexNet</a:t>
            </a:r>
            <a:r>
              <a:rPr lang="en-US" altLang="ko-KR" sz="2500" dirty="0"/>
              <a:t>   : </a:t>
            </a:r>
            <a:r>
              <a:rPr lang="ko-KR" altLang="en-US" sz="2500" dirty="0"/>
              <a:t>약 </a:t>
            </a:r>
            <a:r>
              <a:rPr lang="en-US" altLang="ko-KR" sz="2500" dirty="0"/>
              <a:t>57M</a:t>
            </a:r>
          </a:p>
          <a:p>
            <a:pPr algn="just"/>
            <a:r>
              <a:rPr lang="en-US" altLang="ko-KR" sz="2500" dirty="0"/>
              <a:t>  EfficientNet-B0 : </a:t>
            </a:r>
            <a:r>
              <a:rPr lang="ko-KR" altLang="en-US" sz="2500" dirty="0"/>
              <a:t>약 </a:t>
            </a:r>
            <a:r>
              <a:rPr lang="en-US" altLang="ko-KR" sz="2500" dirty="0"/>
              <a:t>4M  ← </a:t>
            </a:r>
            <a:r>
              <a:rPr lang="ko-KR" altLang="en-US" sz="2500" dirty="0"/>
              <a:t>최소 파라미터</a:t>
            </a:r>
            <a:r>
              <a:rPr lang="en-US" altLang="ko-KR" sz="2500" dirty="0"/>
              <a:t>, </a:t>
            </a:r>
            <a:r>
              <a:rPr lang="ko-KR" altLang="en-US" sz="2500" dirty="0"/>
              <a:t>최고 성능</a:t>
            </a:r>
          </a:p>
        </p:txBody>
      </p:sp>
      <p:pic>
        <p:nvPicPr>
          <p:cNvPr id="37" name="그림 36">
            <a:extLst>
              <a:ext uri="{FF2B5EF4-FFF2-40B4-BE49-F238E27FC236}">
                <a16:creationId xmlns:a16="http://schemas.microsoft.com/office/drawing/2014/main" id="{4B7FB55E-D1A0-AD5E-4365-06BDA9E55D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0728" b="1973"/>
          <a:stretch>
            <a:fillRect/>
          </a:stretch>
        </p:blipFill>
        <p:spPr>
          <a:xfrm>
            <a:off x="592568" y="25846735"/>
            <a:ext cx="5227439" cy="3608278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B335030D-AF03-11A2-FE8E-6360184367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92630" y="18672495"/>
            <a:ext cx="3214695" cy="5431726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A58ADE6B-2299-80E5-8380-02005F960FCC}"/>
              </a:ext>
            </a:extLst>
          </p:cNvPr>
          <p:cNvSpPr txBox="1"/>
          <p:nvPr/>
        </p:nvSpPr>
        <p:spPr>
          <a:xfrm>
            <a:off x="10691811" y="4851262"/>
            <a:ext cx="9792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800" b="1" dirty="0">
                <a:highlight>
                  <a:srgbClr val="E7F2FF"/>
                </a:highlight>
              </a:rPr>
              <a:t>Part1. Setup – import, seed </a:t>
            </a:r>
            <a:r>
              <a:rPr lang="ko-KR" altLang="en-US" sz="2800" b="1" dirty="0">
                <a:highlight>
                  <a:srgbClr val="E7F2FF"/>
                </a:highlight>
              </a:rPr>
              <a:t>고정 등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CB5F3D2-F590-1555-E144-7A4EA1BA62B3}"/>
              </a:ext>
            </a:extLst>
          </p:cNvPr>
          <p:cNvSpPr txBox="1"/>
          <p:nvPr/>
        </p:nvSpPr>
        <p:spPr>
          <a:xfrm>
            <a:off x="10691809" y="5575100"/>
            <a:ext cx="9792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800" b="1" dirty="0">
                <a:highlight>
                  <a:srgbClr val="E7F2FF"/>
                </a:highlight>
              </a:rPr>
              <a:t>Part2. </a:t>
            </a:r>
            <a:r>
              <a:rPr lang="ko-KR" altLang="en-US" sz="2800" b="1" dirty="0">
                <a:highlight>
                  <a:srgbClr val="E7F2FF"/>
                </a:highlight>
              </a:rPr>
              <a:t>데이터 </a:t>
            </a:r>
            <a:r>
              <a:rPr lang="ko-KR" altLang="en-US" sz="2800" b="1" dirty="0" err="1">
                <a:highlight>
                  <a:srgbClr val="E7F2FF"/>
                </a:highlight>
              </a:rPr>
              <a:t>전처리</a:t>
            </a:r>
            <a:endParaRPr lang="ko-KR" altLang="en-US" sz="2800" b="1" dirty="0">
              <a:highlight>
                <a:srgbClr val="E7F2FF"/>
              </a:highlight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72ACE95-8FFB-9A7B-2EFE-293CCFDA55E7}"/>
              </a:ext>
            </a:extLst>
          </p:cNvPr>
          <p:cNvSpPr txBox="1"/>
          <p:nvPr/>
        </p:nvSpPr>
        <p:spPr>
          <a:xfrm>
            <a:off x="10673473" y="10012956"/>
            <a:ext cx="9792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800" b="1" dirty="0">
                <a:highlight>
                  <a:srgbClr val="E7F2FF"/>
                </a:highlight>
              </a:rPr>
              <a:t>Part3. </a:t>
            </a:r>
            <a:r>
              <a:rPr lang="ko-KR" altLang="en-US" sz="2800" b="1" dirty="0">
                <a:highlight>
                  <a:srgbClr val="E7F2FF"/>
                </a:highlight>
              </a:rPr>
              <a:t>모델 정의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BF7AF02-4828-CE85-44DF-10564166D84F}"/>
              </a:ext>
            </a:extLst>
          </p:cNvPr>
          <p:cNvSpPr txBox="1"/>
          <p:nvPr/>
        </p:nvSpPr>
        <p:spPr>
          <a:xfrm>
            <a:off x="10673473" y="16488521"/>
            <a:ext cx="10710152" cy="8269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C9D1D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e_model</a:t>
            </a:r>
            <a:r>
              <a:rPr lang="en-US" altLang="ko-KR" b="0" dirty="0">
                <a:solidFill>
                  <a:srgbClr val="BBBE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b="0" dirty="0">
                <a:solidFill>
                  <a:srgbClr val="BBBE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b="0" dirty="0">
                <a:solidFill>
                  <a:srgbClr val="D2A8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efficientnet_b0</a:t>
            </a:r>
            <a:r>
              <a:rPr lang="en-US" altLang="ko-KR" b="0" dirty="0">
                <a:solidFill>
                  <a:srgbClr val="BBBE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>
                <a:solidFill>
                  <a:srgbClr val="FFA657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b="0" dirty="0">
                <a:solidFill>
                  <a:srgbClr val="4EC9B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EfficientNet_B0_Weights</a:t>
            </a:r>
            <a:r>
              <a:rPr lang="en-US" altLang="ko-KR" b="0" dirty="0">
                <a:solidFill>
                  <a:srgbClr val="BBBE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b="0" dirty="0">
                <a:solidFill>
                  <a:srgbClr val="79C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IMAGENET1K_V1</a:t>
            </a:r>
            <a:r>
              <a:rPr lang="en-US" altLang="ko-KR" b="0" dirty="0">
                <a:solidFill>
                  <a:srgbClr val="BBBE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ts val="1425"/>
              </a:lnSpc>
              <a:buNone/>
            </a:pPr>
            <a:br>
              <a:rPr lang="en-US" altLang="ko-KR" b="0" dirty="0">
                <a:solidFill>
                  <a:srgbClr val="BBBE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b="0" dirty="0" err="1">
                <a:solidFill>
                  <a:srgbClr val="C9D1D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in_features</a:t>
            </a:r>
            <a:r>
              <a:rPr lang="en-US" altLang="ko-KR" b="0" dirty="0">
                <a:solidFill>
                  <a:srgbClr val="BBBE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b="0" dirty="0">
                <a:solidFill>
                  <a:srgbClr val="BBBE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b="0" dirty="0" err="1">
                <a:solidFill>
                  <a:srgbClr val="C9D1D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e_model</a:t>
            </a:r>
            <a:r>
              <a:rPr lang="en-US" altLang="ko-KR" b="0" dirty="0" err="1">
                <a:solidFill>
                  <a:srgbClr val="BBBE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b="0" dirty="0" err="1">
                <a:solidFill>
                  <a:srgbClr val="C9D1D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classifier</a:t>
            </a:r>
            <a:r>
              <a:rPr lang="en-US" altLang="ko-KR" b="0" dirty="0">
                <a:solidFill>
                  <a:srgbClr val="BBBE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b="0" dirty="0">
                <a:solidFill>
                  <a:srgbClr val="BBBE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].</a:t>
            </a:r>
            <a:r>
              <a:rPr lang="en-US" altLang="ko-KR" b="0" dirty="0" err="1">
                <a:solidFill>
                  <a:srgbClr val="BBBE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in_features</a:t>
            </a:r>
            <a:endParaRPr lang="en-US" altLang="ko-KR" b="0" dirty="0">
              <a:solidFill>
                <a:srgbClr val="BBBEBF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C9D1D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e_model</a:t>
            </a:r>
            <a:r>
              <a:rPr lang="en-US" altLang="ko-KR" b="0" dirty="0" err="1">
                <a:solidFill>
                  <a:srgbClr val="BBBE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b="0" dirty="0" err="1">
                <a:solidFill>
                  <a:srgbClr val="C9D1D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classifier</a:t>
            </a:r>
            <a:r>
              <a:rPr lang="en-US" altLang="ko-KR" b="0" dirty="0">
                <a:solidFill>
                  <a:srgbClr val="BBBE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b="0" dirty="0">
                <a:solidFill>
                  <a:srgbClr val="BBBE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b="0" dirty="0">
                <a:solidFill>
                  <a:srgbClr val="BBBE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b="0" dirty="0" err="1">
                <a:solidFill>
                  <a:srgbClr val="4EC9B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nn</a:t>
            </a:r>
            <a:r>
              <a:rPr lang="en-US" altLang="ko-KR" b="0" dirty="0" err="1">
                <a:solidFill>
                  <a:srgbClr val="BBBE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b="0" dirty="0" err="1">
                <a:solidFill>
                  <a:srgbClr val="4EC9B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Linear</a:t>
            </a:r>
            <a:r>
              <a:rPr lang="en-US" altLang="ko-KR" b="0" dirty="0">
                <a:solidFill>
                  <a:srgbClr val="BBBE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0" dirty="0" err="1">
                <a:solidFill>
                  <a:srgbClr val="C9D1D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in_features</a:t>
            </a:r>
            <a:r>
              <a:rPr lang="en-US" altLang="ko-KR" b="0" dirty="0">
                <a:solidFill>
                  <a:srgbClr val="BBBE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b="0" dirty="0">
                <a:solidFill>
                  <a:srgbClr val="BBBEB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6983F08-2C44-3567-2736-E0092E85AA33}"/>
              </a:ext>
            </a:extLst>
          </p:cNvPr>
          <p:cNvSpPr txBox="1"/>
          <p:nvPr/>
        </p:nvSpPr>
        <p:spPr>
          <a:xfrm>
            <a:off x="10691810" y="17662932"/>
            <a:ext cx="9792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800" b="1" dirty="0">
                <a:highlight>
                  <a:srgbClr val="E7F2FF"/>
                </a:highlight>
              </a:rPr>
              <a:t>Part4. </a:t>
            </a:r>
            <a:r>
              <a:rPr lang="ko-KR" altLang="en-US" sz="2800" b="1" dirty="0">
                <a:highlight>
                  <a:srgbClr val="E7F2FF"/>
                </a:highlight>
              </a:rPr>
              <a:t>모델 학습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4B45EBF-D5DC-1CD7-F68B-1719AC9170DD}"/>
              </a:ext>
            </a:extLst>
          </p:cNvPr>
          <p:cNvSpPr txBox="1"/>
          <p:nvPr/>
        </p:nvSpPr>
        <p:spPr>
          <a:xfrm>
            <a:off x="10691809" y="23328883"/>
            <a:ext cx="97929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ko-KR" sz="2800" b="1" dirty="0">
                <a:highlight>
                  <a:srgbClr val="E7F2FF"/>
                </a:highlight>
              </a:rPr>
              <a:t>Part5. </a:t>
            </a:r>
            <a:r>
              <a:rPr lang="ko-KR" altLang="en-US" sz="2800" b="1" dirty="0">
                <a:highlight>
                  <a:srgbClr val="E7F2FF"/>
                </a:highlight>
              </a:rPr>
              <a:t>시각화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242C86E-CF2E-EDCA-7157-0602360D61BD}"/>
              </a:ext>
            </a:extLst>
          </p:cNvPr>
          <p:cNvSpPr txBox="1"/>
          <p:nvPr/>
        </p:nvSpPr>
        <p:spPr>
          <a:xfrm>
            <a:off x="10691809" y="6312907"/>
            <a:ext cx="3855203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000" b="0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pipeline_D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(path):</a:t>
            </a:r>
          </a:p>
          <a:p>
            <a:pPr>
              <a:buNone/>
            </a:pP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load_image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(path)</a:t>
            </a:r>
          </a:p>
          <a:p>
            <a:pPr>
              <a:buNone/>
            </a:pP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2000" b="0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b="0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is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b="0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2000" b="0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b="0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None</a:t>
            </a:r>
            <a:endParaRPr lang="en-US" altLang="ko-KR" sz="2000" b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face_crop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pad_img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denoise_img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sharpen_img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r>
              <a:rPr lang="ko-KR" altLang="en-US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2000" b="0" dirty="0">
                <a:solidFill>
                  <a:srgbClr val="0000F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img</a:t>
            </a:r>
            <a:endParaRPr lang="en-US" altLang="ko-KR" sz="2000" b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30B29AC-2D1D-8657-0B11-5A5230B7C96A}"/>
              </a:ext>
            </a:extLst>
          </p:cNvPr>
          <p:cNvSpPr txBox="1"/>
          <p:nvPr/>
        </p:nvSpPr>
        <p:spPr>
          <a:xfrm>
            <a:off x="14293455" y="6297368"/>
            <a:ext cx="6749204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train_transforms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transforms.Compose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pPr>
              <a:buNone/>
            </a:pP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transforms.ToPILImage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buNone/>
            </a:pP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transforms.RandomHorizontalFlip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(p=</a:t>
            </a:r>
            <a:r>
              <a:rPr lang="en-US" altLang="ko-KR" sz="2000" b="0" dirty="0">
                <a:solidFill>
                  <a:srgbClr val="09865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0.5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endParaRPr lang="ko-KR" altLang="en-US" sz="2000" b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transforms.RandomRotation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(degrees=</a:t>
            </a:r>
            <a:r>
              <a:rPr lang="en-US" altLang="ko-KR" sz="2000" b="0" dirty="0">
                <a:solidFill>
                  <a:srgbClr val="09865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  <a:endParaRPr lang="ko-KR" altLang="en-US" sz="2000" b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transforms.ColorJitter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(brightness=</a:t>
            </a:r>
            <a:r>
              <a:rPr lang="en-US" altLang="ko-KR" sz="2000" b="0" dirty="0">
                <a:solidFill>
                  <a:srgbClr val="09865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0.3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>
              <a:buNone/>
            </a:pPr>
            <a:r>
              <a:rPr lang="en-US" altLang="ko-KR" sz="20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				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contrast=</a:t>
            </a:r>
            <a:r>
              <a:rPr lang="en-US" altLang="ko-KR" sz="2000" b="0" dirty="0">
                <a:solidFill>
                  <a:srgbClr val="09865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0.3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saturation=</a:t>
            </a:r>
            <a:r>
              <a:rPr lang="en-US" altLang="ko-KR" sz="2000" b="0" dirty="0">
                <a:solidFill>
                  <a:srgbClr val="09865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0.2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  <a:endParaRPr lang="ko-KR" altLang="en-US" sz="2000" b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transforms.RandomAffine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(degrees=</a:t>
            </a:r>
            <a:r>
              <a:rPr lang="en-US" altLang="ko-KR" sz="2000" b="0" dirty="0">
                <a:solidFill>
                  <a:srgbClr val="09865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</a:p>
          <a:p>
            <a:pPr>
              <a:buNone/>
            </a:pPr>
            <a:r>
              <a:rPr lang="en-US" altLang="ko-KR" sz="20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				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translate=(</a:t>
            </a:r>
            <a:r>
              <a:rPr lang="en-US" altLang="ko-KR" sz="2000" b="0" dirty="0">
                <a:solidFill>
                  <a:srgbClr val="09865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0.05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2000" b="0" dirty="0">
                <a:solidFill>
                  <a:srgbClr val="09865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0.05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)),</a:t>
            </a:r>
            <a:endParaRPr lang="ko-KR" altLang="en-US" sz="2000" b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transforms.ToTensor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buNone/>
            </a:pP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20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transforms.Normalize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(mean=[</a:t>
            </a:r>
            <a:r>
              <a:rPr lang="en-US" altLang="ko-KR" sz="2000" b="0" dirty="0">
                <a:solidFill>
                  <a:srgbClr val="09865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0.485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2000" b="0" dirty="0">
                <a:solidFill>
                  <a:srgbClr val="09865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0.456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2000" b="0" dirty="0">
                <a:solidFill>
                  <a:srgbClr val="09865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0.406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],</a:t>
            </a:r>
          </a:p>
          <a:p>
            <a:pPr>
              <a:buNone/>
            </a:pPr>
            <a:r>
              <a:rPr lang="ko-KR" altLang="en-US" sz="20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						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std=[</a:t>
            </a:r>
            <a:r>
              <a:rPr lang="en-US" altLang="ko-KR" sz="2000" b="0" dirty="0">
                <a:solidFill>
                  <a:srgbClr val="09865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0.229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2000" b="0" dirty="0">
                <a:solidFill>
                  <a:srgbClr val="09865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0.224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2000" b="0" dirty="0">
                <a:solidFill>
                  <a:srgbClr val="09865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0.225</a:t>
            </a:r>
            <a:r>
              <a:rPr lang="en-US" altLang="ko-KR" sz="20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]),])</a:t>
            </a:r>
          </a:p>
          <a:p>
            <a:pPr>
              <a:buNone/>
            </a:pPr>
            <a:br>
              <a:rPr lang="en-US" altLang="ko-KR" sz="22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2200" b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14B5E3F-9537-8586-1159-C29A5BD3AEA8}"/>
              </a:ext>
            </a:extLst>
          </p:cNvPr>
          <p:cNvSpPr txBox="1"/>
          <p:nvPr/>
        </p:nvSpPr>
        <p:spPr>
          <a:xfrm>
            <a:off x="10691809" y="10575361"/>
            <a:ext cx="10710152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21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e_model</a:t>
            </a:r>
            <a:r>
              <a:rPr lang="en-US" altLang="ko-KR" sz="21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efficientnet_b0(weights=EfficientNet_B0_Weights.</a:t>
            </a:r>
            <a:r>
              <a:rPr lang="en-US" altLang="ko-KR" sz="2100" b="0" dirty="0">
                <a:solidFill>
                  <a:srgbClr val="09865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IMAGENET1K_V1</a:t>
            </a:r>
            <a:r>
              <a:rPr lang="en-US" altLang="ko-KR" sz="21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br>
              <a:rPr lang="en-US" altLang="ko-KR" sz="21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1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in_features</a:t>
            </a:r>
            <a:r>
              <a:rPr lang="en-US" altLang="ko-KR" sz="21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21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e_model.classifier</a:t>
            </a:r>
            <a:r>
              <a:rPr lang="en-US" altLang="ko-KR" sz="21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2100" b="0" dirty="0">
                <a:solidFill>
                  <a:srgbClr val="09865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21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].</a:t>
            </a:r>
            <a:r>
              <a:rPr lang="en-US" altLang="ko-KR" sz="21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in_features</a:t>
            </a:r>
            <a:endParaRPr lang="en-US" altLang="ko-KR" sz="2100" b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21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e_model.classifier</a:t>
            </a:r>
            <a:r>
              <a:rPr lang="en-US" altLang="ko-KR" sz="21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  <a:r>
              <a:rPr lang="en-US" altLang="ko-KR" sz="2100" b="0" dirty="0">
                <a:solidFill>
                  <a:srgbClr val="09865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21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 = </a:t>
            </a:r>
            <a:r>
              <a:rPr lang="en-US" altLang="ko-KR" sz="21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nn.Linear</a:t>
            </a:r>
            <a:r>
              <a:rPr lang="en-US" altLang="ko-KR" sz="21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100" b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in_features</a:t>
            </a:r>
            <a:r>
              <a:rPr lang="en-US" altLang="ko-KR" sz="21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2100" b="0" dirty="0">
                <a:solidFill>
                  <a:srgbClr val="09865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2100" b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994356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236</TotalTime>
  <Words>593</Words>
  <Application>Microsoft Office PowerPoint</Application>
  <PresentationFormat>사용자 지정</PresentationFormat>
  <Paragraphs>82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D2Coding</vt:lpstr>
      <vt:lpstr>Noto Sans KR</vt:lpstr>
      <vt:lpstr>Aptos</vt:lpstr>
      <vt:lpstr>Aptos Display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윤석희</dc:creator>
  <cp:lastModifiedBy>이지현</cp:lastModifiedBy>
  <cp:revision>33</cp:revision>
  <dcterms:created xsi:type="dcterms:W3CDTF">2026-04-03T07:54:49Z</dcterms:created>
  <dcterms:modified xsi:type="dcterms:W3CDTF">2026-04-18T01:37:59Z</dcterms:modified>
</cp:coreProperties>
</file>