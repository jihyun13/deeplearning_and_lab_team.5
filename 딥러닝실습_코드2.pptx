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882" autoAdjust="0"/>
  </p:normalViewPr>
  <p:slideViewPr>
    <p:cSldViewPr snapToGrid="0">
      <p:cViewPr>
        <p:scale>
          <a:sx n="75" d="100"/>
          <a:sy n="75" d="100"/>
        </p:scale>
        <p:origin x="9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81956-2DFF-9A8C-A05C-88A3018F9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AC9C8DC-1646-E954-8F30-BCCBC70FF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D94796-3AF3-9487-0EEF-B4CD416B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0DE993-7D36-5032-48C0-919FE237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FA7E49-42AC-8D9A-EE61-97670D71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B1EB3-E974-58F6-D475-3A222386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7AE217-2729-15F8-AAC4-26B728D56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62ADBC-FA89-1768-BD78-F4C8456B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353158-5BB5-A355-BCAE-0D97994F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B52E1-99E6-6071-60A5-658848FF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94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98E349-F89F-1C9F-BAB3-6DD3DC2A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7DDA8E-2F86-6D55-7B37-32A86DA11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D5C38-AF23-B975-A069-897E2DF3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ACE525-2932-2686-E2E6-3784CEE56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9D3908-963F-A678-7B0B-810380C3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98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7D310-BE46-E3B8-1696-5BDA7654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146A7E-08E4-6C05-49FF-BD529AA96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E613CB-170E-E050-17B9-69734F377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2F2438-956B-13BA-B39A-EA41EB72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8E1106-254A-1EF4-26C4-A4D92CFC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41044A-266C-83FF-3CF6-0A14C61D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438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D5774-1FDE-FBC5-64F0-C2978DF6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4A9FEF-FB7B-5AEB-B44A-3C949A6EF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48A7FB-58DF-5270-00ED-926BB2B31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4100F52-BFB5-2D71-928C-49588793A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730139-2922-3688-5A5F-97F6D7020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52ABD5-67CF-23DD-6406-F64CE514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F86B8FA-F924-E9B0-E0E6-22994FCB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1037902-4037-7FC6-E2FE-A120FD744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5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9E314-031B-613D-9A52-9F5007C45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BEE6D6-199D-9CC1-61A5-590236CE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B7FE01-C104-FC2F-ECB5-D81A29E5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926B69-4D05-8B0F-B1EC-42EA7F46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17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575D4B-8BD5-2E5D-65E5-0005996C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1905C7E-ACF8-3B6A-D0FD-628E88E6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81A256-B967-45C2-AE0B-FF168D4F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776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30F1F-78AA-39DC-F576-120433DD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DCBA07-A6FC-8ADA-A2AD-9EC0D2050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9E348B-1BE3-C20E-1DF7-F386DFF1F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6411C1-3ECD-B2A4-A900-009677E0A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32B57B-CB36-0DE7-0419-3EE7B0F3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AA9F7E-3C6B-7212-BCE5-78FDD6B3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21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85015-55A3-EC4C-43DB-24232884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D8973F-4717-1D46-5A54-7AD1B24DF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EA2507-B5A1-02AA-D774-99A809218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278BF8-D16E-784D-8571-05660EDE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C2350A-57EB-F282-7C63-D95A2BAC1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1E706D-55BA-2AE7-1C31-44BFAFA30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32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53FAF-1538-B5F8-58E0-8B22B31E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36F05C-2C2D-B830-21BD-7C31D71FC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C8767B-DB1A-4AB5-3662-B66691DB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E86A2A-25CE-EBAA-AA86-13036CDE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B044DA-B8E1-4D46-CA94-3997CA45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69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311D03E-A014-78F5-8B7A-782947E4C5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380B0-9B70-C219-3B9F-BD8EF821E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18AD57-0A9E-B31F-6D10-386C17F27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BE8ADB-66E0-D51D-8FC3-E95C12791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3A791C-62A6-20E8-25E5-D32E6CAE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C6CFD2-3528-0332-807E-283A899BD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C9812B-9347-B7A1-B929-22239E32C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FC5C06-5EDF-B5DE-AC6F-321C34215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A0CA47-A4BC-4917-89B0-734577EBAA92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CCEE84-51E4-10BC-7633-66E7A965B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7F78B-C597-36D8-B9BD-405E59E8F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FC110-F8C4-473C-94B0-07D31A0589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47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1E535-45B3-A31A-9752-6C04CF61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concat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28EFA10-AA29-3558-0FE7-F1F709C3DA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4038950" cy="2034716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D78739-816D-1C2E-509D-C742C41B6B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ko-KR" sz="1000" dirty="0"/>
              <a:t>비디오, 오디오, 텍스트 특징을 하나의 벡터로 결합</a:t>
            </a:r>
            <a:endParaRPr lang="en-US" altLang="ko-KR" sz="1000" dirty="0"/>
          </a:p>
          <a:p>
            <a:r>
              <a:rPr lang="ko-KR" altLang="ko-KR" sz="1000" dirty="0"/>
              <a:t>결합된 특징 벡터의 차원 수 계산</a:t>
            </a:r>
            <a:endParaRPr lang="en-US" altLang="ko-KR" sz="1000" dirty="0"/>
          </a:p>
          <a:p>
            <a:r>
              <a:rPr lang="en-US" altLang="ko-KR" sz="1000" dirty="0" err="1"/>
              <a:t>mlp</a:t>
            </a:r>
            <a:r>
              <a:rPr lang="ko-KR" altLang="ko-KR" sz="1000" dirty="0"/>
              <a:t>분류기 정의 시작</a:t>
            </a:r>
            <a:endParaRPr lang="en-US" altLang="ko-KR" sz="1000" dirty="0"/>
          </a:p>
          <a:p>
            <a:r>
              <a:rPr lang="ko-KR" altLang="ko-KR" sz="1000" dirty="0"/>
              <a:t>입력 특징을 256차원 은닉 표현으로 변환</a:t>
            </a:r>
            <a:endParaRPr lang="en-US" altLang="ko-KR" sz="1000" dirty="0"/>
          </a:p>
          <a:p>
            <a:r>
              <a:rPr lang="ko-KR" altLang="ko-KR" sz="1000" dirty="0"/>
              <a:t>활성화 함수</a:t>
            </a:r>
            <a:r>
              <a:rPr lang="en-US" altLang="ko-KR" sz="1000" dirty="0"/>
              <a:t> </a:t>
            </a:r>
            <a:r>
              <a:rPr lang="en-US" altLang="ko-KR" sz="1000" dirty="0" err="1"/>
              <a:t>ReLU</a:t>
            </a:r>
            <a:r>
              <a:rPr lang="ko-KR" altLang="ko-KR" sz="1000" dirty="0"/>
              <a:t> 적용</a:t>
            </a:r>
            <a:endParaRPr lang="en-US" altLang="ko-KR" sz="1000" dirty="0"/>
          </a:p>
          <a:p>
            <a:r>
              <a:rPr lang="ko-KR" altLang="ko-KR" sz="1000" dirty="0" err="1"/>
              <a:t>과적합</a:t>
            </a:r>
            <a:r>
              <a:rPr lang="ko-KR" altLang="ko-KR" sz="1000" dirty="0"/>
              <a:t> 방지를 위해 30% 노드 비활성화</a:t>
            </a:r>
            <a:endParaRPr lang="en-US" altLang="ko-KR" sz="1000" dirty="0"/>
          </a:p>
          <a:p>
            <a:r>
              <a:rPr lang="ko-KR" altLang="ko-KR" sz="1000" dirty="0"/>
              <a:t>2개 클래스에 대한 최종 예측 점수 출력</a:t>
            </a:r>
            <a:endParaRPr lang="en-US" altLang="ko-KR" sz="1000" dirty="0"/>
          </a:p>
          <a:p>
            <a:r>
              <a:rPr lang="ko-KR" altLang="ko-KR" sz="1000" dirty="0" err="1"/>
              <a:t>Adam</a:t>
            </a:r>
            <a:r>
              <a:rPr lang="ko-KR" altLang="ko-KR" sz="1000" dirty="0"/>
              <a:t> </a:t>
            </a:r>
            <a:r>
              <a:rPr lang="ko-KR" altLang="ko-KR" sz="1000" dirty="0" err="1"/>
              <a:t>옵티마이저를</a:t>
            </a:r>
            <a:r>
              <a:rPr lang="ko-KR" altLang="ko-KR" sz="1000" dirty="0"/>
              <a:t> 사용하여 모델 파라미터 학습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lr</a:t>
            </a:r>
            <a:r>
              <a:rPr lang="en-US" altLang="ko-KR" sz="1000" dirty="0"/>
              <a:t>=1e-3</a:t>
            </a:r>
            <a:r>
              <a:rPr lang="ko-KR" altLang="en-US" sz="1000" dirty="0"/>
              <a:t>로 설정</a:t>
            </a:r>
            <a:endParaRPr lang="en-US" altLang="ko-KR" sz="1000" dirty="0"/>
          </a:p>
          <a:p>
            <a:r>
              <a:rPr lang="en-US" altLang="ko-KR" sz="1000" dirty="0"/>
              <a:t>Cross entropy loss </a:t>
            </a:r>
            <a:r>
              <a:rPr lang="ko-KR" altLang="en-US" sz="1000" dirty="0"/>
              <a:t>함수 사용</a:t>
            </a:r>
            <a:endParaRPr lang="en-US" altLang="ko-KR" sz="1000" dirty="0"/>
          </a:p>
          <a:p>
            <a:endParaRPr lang="ko-KR" altLang="en-US" sz="1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1141B1B-F4C0-688F-61B7-8888645B8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60341"/>
            <a:ext cx="3581710" cy="53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90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BC809-3CDF-BA82-0AB9-54DCB4B08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GCN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11AE516-3302-EF85-A5B0-BD7BA43504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1" y="1944688"/>
            <a:ext cx="5181600" cy="373516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75534F-250A-BDC7-8FA7-0F6231C2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2141537"/>
            <a:ext cx="5181600" cy="4351338"/>
          </a:xfrm>
        </p:spPr>
        <p:txBody>
          <a:bodyPr>
            <a:normAutofit/>
          </a:bodyPr>
          <a:lstStyle/>
          <a:p>
            <a:r>
              <a:rPr lang="ko-KR" altLang="en-US" sz="1000" dirty="0"/>
              <a:t>각 </a:t>
            </a:r>
            <a:r>
              <a:rPr lang="ko-KR" altLang="en-US" sz="1000" dirty="0" err="1"/>
              <a:t>모달</a:t>
            </a:r>
            <a:r>
              <a:rPr lang="ko-KR" altLang="ko-KR" sz="1000" dirty="0"/>
              <a:t> 특징을 공통 차원으로 변환</a:t>
            </a:r>
            <a:endParaRPr lang="en-US" altLang="ko-KR" sz="1000" dirty="0"/>
          </a:p>
          <a:p>
            <a:r>
              <a:rPr lang="ko-KR" altLang="ko-KR" sz="1000" dirty="0"/>
              <a:t>사용자 정의 인접 행렬 존재 여부 확인</a:t>
            </a:r>
            <a:endParaRPr lang="en-US" altLang="ko-KR" sz="1000" dirty="0"/>
          </a:p>
          <a:p>
            <a:r>
              <a:rPr lang="ko-KR" altLang="ko-KR" sz="1000" dirty="0"/>
              <a:t>입력된 인접 행렬 사용</a:t>
            </a:r>
            <a:endParaRPr lang="en-US" altLang="ko-KR" sz="1000" dirty="0"/>
          </a:p>
          <a:p>
            <a:r>
              <a:rPr lang="ko-KR" altLang="ko-KR" sz="1000" dirty="0"/>
              <a:t>없으면 모든 </a:t>
            </a:r>
            <a:r>
              <a:rPr lang="ko-KR" altLang="ko-KR" sz="1000" dirty="0" err="1"/>
              <a:t>모달을</a:t>
            </a:r>
            <a:r>
              <a:rPr lang="ko-KR" altLang="ko-KR" sz="1000" dirty="0"/>
              <a:t> 연결한 완전 그래프 생성</a:t>
            </a:r>
            <a:endParaRPr lang="en-US" altLang="ko-KR" sz="1000" dirty="0"/>
          </a:p>
          <a:p>
            <a:r>
              <a:rPr lang="ko-KR" altLang="ko-KR" sz="1000" dirty="0"/>
              <a:t>행 단위 정규화 후 모델에 저장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ko-KR" sz="1000" dirty="0"/>
              <a:t>여러 개의 GCN 레이어 저장</a:t>
            </a:r>
            <a:endParaRPr lang="en-US" altLang="ko-KR" sz="1000" dirty="0"/>
          </a:p>
          <a:p>
            <a:r>
              <a:rPr lang="ko-KR" altLang="ko-KR" sz="1000" dirty="0"/>
              <a:t>노드 특징을 학습 가능한 가중치로 변환</a:t>
            </a:r>
            <a:endParaRPr lang="en-US" altLang="ko-KR" sz="1000" dirty="0"/>
          </a:p>
          <a:p>
            <a:r>
              <a:rPr lang="ko-KR" altLang="ko-KR" sz="1000" dirty="0"/>
              <a:t>지정한 개수만큼 GCN 레이어 생성</a:t>
            </a:r>
            <a:endParaRPr lang="en-US" altLang="ko-KR" sz="1000" dirty="0"/>
          </a:p>
          <a:p>
            <a:r>
              <a:rPr lang="ko-KR" altLang="en-US" sz="1000" dirty="0"/>
              <a:t>분류기</a:t>
            </a:r>
            <a:endParaRPr lang="en-US" altLang="ko-KR" sz="1000" dirty="0"/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8881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7C572B-74F4-5D55-A17D-978EF51A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GCN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5910E5F-154F-36E0-1A9B-C4C7D175AC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7080" y="1940105"/>
            <a:ext cx="5181600" cy="2061189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403EF7-896B-52CD-7CD9-90DF7AE61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4760" y="1825625"/>
            <a:ext cx="5181600" cy="4351338"/>
          </a:xfrm>
        </p:spPr>
        <p:txBody>
          <a:bodyPr>
            <a:normAutofit/>
          </a:bodyPr>
          <a:lstStyle/>
          <a:p>
            <a:r>
              <a:rPr lang="ko-KR" altLang="ko-KR" sz="1000" dirty="0"/>
              <a:t>입력 특징이 768차원인 경우 </a:t>
            </a:r>
            <a:r>
              <a:rPr lang="ko-KR" altLang="ko-KR" sz="1000" dirty="0" err="1"/>
              <a:t>Projection</a:t>
            </a:r>
            <a:r>
              <a:rPr lang="ko-KR" altLang="ko-KR" sz="1000" dirty="0"/>
              <a:t> 수행</a:t>
            </a:r>
            <a:endParaRPr lang="en-US" altLang="ko-KR" sz="1000" dirty="0"/>
          </a:p>
          <a:p>
            <a:r>
              <a:rPr lang="ko-KR" altLang="en-US" sz="1000" dirty="0"/>
              <a:t>각 </a:t>
            </a:r>
            <a:r>
              <a:rPr lang="ko-KR" altLang="en-US" sz="1000" dirty="0" err="1"/>
              <a:t>모달</a:t>
            </a:r>
            <a:r>
              <a:rPr lang="ko-KR" altLang="en-US" sz="1000" dirty="0"/>
              <a:t> </a:t>
            </a:r>
            <a:r>
              <a:rPr lang="ko-KR" altLang="ko-KR" sz="1000" dirty="0"/>
              <a:t> 특징을 256차원으로 변환 후 활성화 함수 적용</a:t>
            </a:r>
            <a:endParaRPr lang="en-US" altLang="ko-KR" sz="1000" dirty="0"/>
          </a:p>
          <a:p>
            <a:r>
              <a:rPr lang="ko-KR" altLang="ko-KR" sz="1000" dirty="0"/>
              <a:t>세 </a:t>
            </a:r>
            <a:r>
              <a:rPr lang="ko-KR" altLang="ko-KR" sz="1000" dirty="0" err="1"/>
              <a:t>모달</a:t>
            </a:r>
            <a:r>
              <a:rPr lang="ko-KR" altLang="ko-KR" sz="1000" dirty="0"/>
              <a:t> 특징을 그래프의 노드로 구성</a:t>
            </a:r>
            <a:endParaRPr lang="en-US" altLang="ko-KR" sz="1000" dirty="0"/>
          </a:p>
          <a:p>
            <a:r>
              <a:rPr lang="ko-KR" altLang="ko-KR" sz="1000" dirty="0"/>
              <a:t>각 GCN 레이어를 순차적으로 적용</a:t>
            </a:r>
            <a:endParaRPr lang="en-US" altLang="ko-KR" sz="1000" dirty="0"/>
          </a:p>
          <a:p>
            <a:r>
              <a:rPr lang="ko-KR" altLang="ko-KR" sz="1000" dirty="0"/>
              <a:t>인접 행렬을 이용하여 </a:t>
            </a:r>
            <a:r>
              <a:rPr lang="ko-KR" altLang="ko-KR" sz="1000" dirty="0" err="1"/>
              <a:t>모달</a:t>
            </a:r>
            <a:r>
              <a:rPr lang="ko-KR" altLang="ko-KR" sz="1000" dirty="0"/>
              <a:t> 간 정보 전달</a:t>
            </a:r>
            <a:endParaRPr lang="en-US" altLang="ko-KR" sz="1000" dirty="0"/>
          </a:p>
          <a:p>
            <a:r>
              <a:rPr lang="ko-KR" altLang="ko-KR" sz="1000" dirty="0"/>
              <a:t>3개 노드 특징을 하나의 벡터로 펼침</a:t>
            </a:r>
            <a:endParaRPr lang="en-US" altLang="ko-KR" sz="1000" dirty="0"/>
          </a:p>
          <a:p>
            <a:r>
              <a:rPr lang="ko-KR" altLang="en-US" sz="1000" dirty="0"/>
              <a:t>최종 </a:t>
            </a:r>
            <a:r>
              <a:rPr lang="ko-KR" altLang="ko-KR" sz="1000" dirty="0"/>
              <a:t>클래스 예측</a:t>
            </a:r>
            <a:endParaRPr lang="en-US" altLang="ko-KR" sz="1000" dirty="0"/>
          </a:p>
          <a:p>
            <a:r>
              <a:rPr lang="ko-KR" altLang="en-US" sz="1000" dirty="0" err="1"/>
              <a:t>옵티마이저</a:t>
            </a:r>
            <a:r>
              <a:rPr lang="ko-KR" altLang="en-US" sz="1000" dirty="0"/>
              <a:t> </a:t>
            </a:r>
            <a:r>
              <a:rPr lang="en-US" altLang="ko-KR" sz="1000" dirty="0" err="1"/>
              <a:t>adagrad</a:t>
            </a:r>
            <a:r>
              <a:rPr lang="ko-KR" altLang="en-US" sz="1000" dirty="0"/>
              <a:t>로 설정</a:t>
            </a:r>
            <a:endParaRPr lang="en-US" altLang="ko-KR" sz="1000" dirty="0"/>
          </a:p>
          <a:p>
            <a:r>
              <a:rPr lang="en-US" altLang="ko-KR" sz="1000" dirty="0"/>
              <a:t>Lr=1e-3</a:t>
            </a:r>
            <a:r>
              <a:rPr lang="ko-KR" altLang="en-US" sz="1000" dirty="0"/>
              <a:t>로 설정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21FD750-C523-87EB-97FB-15CBA0C1F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36231"/>
            <a:ext cx="5549763" cy="44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36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7EF48-1A0C-2BDD-758D-04CFC0DF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 attention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66FB275-B06C-9F52-560B-4A9ACE17DD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293524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A2ED20-40A5-2D4A-00DD-A2A6E562D5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ko-KR" sz="1000" dirty="0" err="1"/>
              <a:t>Cross-Attention</a:t>
            </a:r>
            <a:r>
              <a:rPr lang="ko-KR" altLang="ko-KR" sz="1000" dirty="0"/>
              <a:t> 블록 정의</a:t>
            </a:r>
            <a:endParaRPr lang="en-US" altLang="ko-KR" sz="1000" dirty="0"/>
          </a:p>
          <a:p>
            <a:r>
              <a:rPr lang="ko-KR" altLang="ko-KR" sz="1000" dirty="0" err="1"/>
              <a:t>Multi-Head</a:t>
            </a:r>
            <a:r>
              <a:rPr lang="ko-KR" altLang="ko-KR" sz="1000" dirty="0"/>
              <a:t> </a:t>
            </a:r>
            <a:r>
              <a:rPr lang="ko-KR" altLang="ko-KR" sz="1000" dirty="0" err="1"/>
              <a:t>Attention을</a:t>
            </a:r>
            <a:r>
              <a:rPr lang="ko-KR" altLang="ko-KR" sz="1000" dirty="0"/>
              <a:t> 이용해 </a:t>
            </a:r>
            <a:r>
              <a:rPr lang="ko-KR" altLang="ko-KR" sz="1000" dirty="0" err="1"/>
              <a:t>Query와</a:t>
            </a:r>
            <a:r>
              <a:rPr lang="ko-KR" altLang="ko-KR" sz="1000" dirty="0"/>
              <a:t> 다른 </a:t>
            </a:r>
            <a:r>
              <a:rPr lang="ko-KR" altLang="ko-KR" sz="1000" dirty="0" err="1"/>
              <a:t>모달</a:t>
            </a:r>
            <a:r>
              <a:rPr lang="ko-KR" altLang="ko-KR" sz="1000" dirty="0"/>
              <a:t> 특징 간 관계 학습</a:t>
            </a:r>
            <a:endParaRPr lang="en-US" altLang="ko-KR" sz="1000" dirty="0"/>
          </a:p>
          <a:p>
            <a:r>
              <a:rPr lang="ko-KR" altLang="ko-KR" sz="1000" dirty="0" err="1"/>
              <a:t>Attention</a:t>
            </a:r>
            <a:r>
              <a:rPr lang="ko-KR" altLang="ko-KR" sz="1000" dirty="0"/>
              <a:t> 결과 정규화</a:t>
            </a:r>
            <a:endParaRPr lang="en-US" altLang="ko-KR" sz="1000" dirty="0"/>
          </a:p>
          <a:p>
            <a:r>
              <a:rPr lang="ko-KR" altLang="ko-KR" sz="1000" dirty="0"/>
              <a:t>특징을 추가로 변환하는 </a:t>
            </a:r>
            <a:r>
              <a:rPr lang="ko-KR" altLang="ko-KR" sz="1000" dirty="0" err="1"/>
              <a:t>Feed-Forward</a:t>
            </a:r>
            <a:r>
              <a:rPr lang="ko-KR" altLang="ko-KR" sz="1000" dirty="0"/>
              <a:t> Network</a:t>
            </a:r>
          </a:p>
          <a:p>
            <a:r>
              <a:rPr lang="ko-KR" altLang="ko-KR" sz="1000" dirty="0" err="1"/>
              <a:t>Feed-Forward</a:t>
            </a:r>
            <a:r>
              <a:rPr lang="ko-KR" altLang="ko-KR" sz="1000" dirty="0"/>
              <a:t> 결과 정규화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ko-KR" sz="1000" dirty="0" err="1"/>
              <a:t>Query를</a:t>
            </a:r>
            <a:r>
              <a:rPr lang="ko-KR" altLang="ko-KR" sz="1000" dirty="0"/>
              <a:t> 시퀀스 형태로 변환</a:t>
            </a:r>
            <a:endParaRPr lang="en-US" altLang="ko-KR" sz="1000" dirty="0"/>
          </a:p>
          <a:p>
            <a:r>
              <a:rPr lang="ko-KR" altLang="ko-KR" sz="1000" dirty="0" err="1"/>
              <a:t>Query가</a:t>
            </a:r>
            <a:r>
              <a:rPr lang="ko-KR" altLang="ko-KR" sz="1000" dirty="0"/>
              <a:t> 다른 </a:t>
            </a:r>
            <a:r>
              <a:rPr lang="ko-KR" altLang="ko-KR" sz="1000" dirty="0" err="1"/>
              <a:t>모달</a:t>
            </a:r>
            <a:r>
              <a:rPr lang="ko-KR" altLang="ko-KR" sz="1000" dirty="0"/>
              <a:t> 특징(K,V)</a:t>
            </a:r>
            <a:r>
              <a:rPr lang="ko-KR" altLang="ko-KR" sz="1000" dirty="0" err="1"/>
              <a:t>에</a:t>
            </a:r>
            <a:r>
              <a:rPr lang="ko-KR" altLang="ko-KR" sz="1000" dirty="0"/>
              <a:t> 주목하도록 </a:t>
            </a:r>
            <a:r>
              <a:rPr lang="ko-KR" altLang="ko-KR" sz="1000" dirty="0" err="1"/>
              <a:t>Attention</a:t>
            </a:r>
            <a:r>
              <a:rPr lang="ko-KR" altLang="ko-KR" sz="1000" dirty="0"/>
              <a:t> 수행</a:t>
            </a:r>
            <a:endParaRPr lang="en-US" altLang="ko-KR" sz="1000" dirty="0"/>
          </a:p>
          <a:p>
            <a:r>
              <a:rPr lang="ko-KR" altLang="ko-KR" sz="1000" dirty="0" err="1"/>
              <a:t>Residual</a:t>
            </a:r>
            <a:r>
              <a:rPr lang="ko-KR" altLang="ko-KR" sz="1000" dirty="0"/>
              <a:t> </a:t>
            </a:r>
            <a:r>
              <a:rPr lang="ko-KR" altLang="ko-KR" sz="1000" dirty="0" err="1"/>
              <a:t>Connection</a:t>
            </a:r>
            <a:r>
              <a:rPr lang="ko-KR" altLang="ko-KR" sz="1000" dirty="0"/>
              <a:t> 및 정규화 적용</a:t>
            </a:r>
            <a:endParaRPr lang="en-US" altLang="ko-KR" sz="1000" dirty="0"/>
          </a:p>
          <a:p>
            <a:r>
              <a:rPr lang="ko-KR" altLang="ko-KR" sz="1000" dirty="0" err="1"/>
              <a:t>Feed-Forward</a:t>
            </a:r>
            <a:r>
              <a:rPr lang="ko-KR" altLang="ko-KR" sz="1000" dirty="0"/>
              <a:t> 처리 후 최종 특징 생성</a:t>
            </a:r>
            <a:endParaRPr lang="en-US" altLang="ko-KR" sz="1000" dirty="0"/>
          </a:p>
          <a:p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401627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71151-7922-A20D-C69A-1074CCED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 attention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35B0497-83B2-92C7-B9B0-B041C2912E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25620"/>
            <a:ext cx="5181600" cy="3951348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E92876-9E0A-B88E-DB0B-89A59035D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710528"/>
            <a:ext cx="5181600" cy="4351338"/>
          </a:xfrm>
        </p:spPr>
        <p:txBody>
          <a:bodyPr>
            <a:normAutofit/>
          </a:bodyPr>
          <a:lstStyle/>
          <a:p>
            <a:r>
              <a:rPr lang="ko-KR" altLang="ko-KR" sz="1000" dirty="0"/>
              <a:t>각 </a:t>
            </a:r>
            <a:r>
              <a:rPr lang="ko-KR" altLang="ko-KR" sz="1000" dirty="0" err="1"/>
              <a:t>모달</a:t>
            </a:r>
            <a:r>
              <a:rPr lang="ko-KR" altLang="ko-KR" sz="1000" dirty="0"/>
              <a:t> 특징(256차원)을 64차원으로 투영</a:t>
            </a:r>
            <a:endParaRPr lang="en-US" altLang="ko-KR" sz="1000" dirty="0"/>
          </a:p>
          <a:p>
            <a:r>
              <a:rPr lang="ko-KR" altLang="ko-KR" sz="1000" dirty="0"/>
              <a:t>각 </a:t>
            </a:r>
            <a:r>
              <a:rPr lang="ko-KR" altLang="ko-KR" sz="1000" dirty="0" err="1"/>
              <a:t>모달에</a:t>
            </a:r>
            <a:r>
              <a:rPr lang="ko-KR" altLang="ko-KR" sz="1000" dirty="0"/>
              <a:t> 대해 </a:t>
            </a:r>
            <a:r>
              <a:rPr lang="ko-KR" altLang="ko-KR" sz="1000" dirty="0" err="1"/>
              <a:t>Cross-Attention</a:t>
            </a:r>
            <a:r>
              <a:rPr lang="ko-KR" altLang="ko-KR" sz="1000" dirty="0"/>
              <a:t> 모듈 생성</a:t>
            </a:r>
            <a:endParaRPr lang="en-US" altLang="ko-KR" sz="1000" dirty="0"/>
          </a:p>
          <a:p>
            <a:r>
              <a:rPr lang="ko-KR" altLang="ko-KR" sz="1000" dirty="0"/>
              <a:t>분류기 정의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ko-KR" sz="1000" dirty="0"/>
              <a:t>세 </a:t>
            </a:r>
            <a:r>
              <a:rPr lang="ko-KR" altLang="ko-KR" sz="1000" dirty="0" err="1"/>
              <a:t>모달</a:t>
            </a:r>
            <a:r>
              <a:rPr lang="ko-KR" altLang="ko-KR" sz="1000" dirty="0"/>
              <a:t> 특징을 공통 차원으로 변환</a:t>
            </a:r>
            <a:endParaRPr lang="en-US" altLang="ko-KR" sz="1000" dirty="0"/>
          </a:p>
          <a:p>
            <a:r>
              <a:rPr lang="ko-KR" altLang="ko-KR" sz="1000" dirty="0"/>
              <a:t>비디오 특징이 </a:t>
            </a:r>
            <a:r>
              <a:rPr lang="ko-KR" altLang="ko-KR" sz="1000" dirty="0" err="1"/>
              <a:t>텍스트·오디오</a:t>
            </a:r>
            <a:r>
              <a:rPr lang="ko-KR" altLang="ko-KR" sz="1000" dirty="0"/>
              <a:t> 정보를 참조</a:t>
            </a:r>
            <a:endParaRPr lang="en-US" altLang="ko-KR" sz="1000" dirty="0"/>
          </a:p>
          <a:p>
            <a:r>
              <a:rPr lang="ko-KR" altLang="ko-KR" sz="1000" dirty="0"/>
              <a:t>텍스트 특징이 </a:t>
            </a:r>
            <a:r>
              <a:rPr lang="ko-KR" altLang="ko-KR" sz="1000" dirty="0" err="1"/>
              <a:t>비디오·오디오</a:t>
            </a:r>
            <a:r>
              <a:rPr lang="ko-KR" altLang="ko-KR" sz="1000" dirty="0"/>
              <a:t> 정보를 참조</a:t>
            </a:r>
            <a:endParaRPr lang="en-US" altLang="ko-KR" sz="1000" dirty="0"/>
          </a:p>
          <a:p>
            <a:r>
              <a:rPr lang="ko-KR" altLang="ko-KR" sz="1000" dirty="0"/>
              <a:t>오디오 특징이 </a:t>
            </a:r>
            <a:r>
              <a:rPr lang="ko-KR" altLang="ko-KR" sz="1000" dirty="0" err="1"/>
              <a:t>비디오·텍스트</a:t>
            </a:r>
            <a:r>
              <a:rPr lang="ko-KR" altLang="ko-KR" sz="1000" dirty="0"/>
              <a:t> 정보를 참조</a:t>
            </a:r>
            <a:endParaRPr lang="en-US" altLang="ko-KR" sz="1000" dirty="0"/>
          </a:p>
          <a:p>
            <a:r>
              <a:rPr lang="ko-KR" altLang="ko-KR" sz="1000" dirty="0"/>
              <a:t>세 </a:t>
            </a:r>
            <a:r>
              <a:rPr lang="ko-KR" altLang="ko-KR" sz="1000" dirty="0" err="1"/>
              <a:t>모달의</a:t>
            </a:r>
            <a:r>
              <a:rPr lang="ko-KR" altLang="ko-KR" sz="1000" dirty="0"/>
              <a:t> </a:t>
            </a:r>
            <a:r>
              <a:rPr lang="ko-KR" altLang="ko-KR" sz="1000" dirty="0" err="1"/>
              <a:t>Attention</a:t>
            </a:r>
            <a:r>
              <a:rPr lang="ko-KR" altLang="ko-KR" sz="1000" dirty="0"/>
              <a:t> 결과를 결합</a:t>
            </a:r>
            <a:endParaRPr lang="en-US" altLang="ko-KR" sz="1000" dirty="0"/>
          </a:p>
          <a:p>
            <a:r>
              <a:rPr lang="ko-KR" altLang="ko-KR" sz="1000" dirty="0"/>
              <a:t>최종 클래스 예측</a:t>
            </a:r>
            <a:r>
              <a:rPr lang="en-US" altLang="ko-KR" sz="1000" dirty="0"/>
              <a:t> </a:t>
            </a:r>
            <a:r>
              <a:rPr lang="ko-KR" altLang="en-US" sz="1000" dirty="0"/>
              <a:t>반환</a:t>
            </a:r>
            <a:endParaRPr lang="en-US" altLang="ko-KR" sz="1000" dirty="0"/>
          </a:p>
          <a:p>
            <a:endParaRPr lang="en-US" altLang="ko-KR" sz="1000" dirty="0"/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1887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39AA6-BB83-F12C-DA48-62039EBA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 attention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AFB7EDD-1A04-3F03-AF9D-71283A34CE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486363"/>
            <a:ext cx="5181600" cy="3029861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FE0CC3-6C05-E5A1-BE95-BF5C190B3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486363"/>
            <a:ext cx="5181600" cy="4351338"/>
          </a:xfrm>
        </p:spPr>
        <p:txBody>
          <a:bodyPr>
            <a:normAutofit/>
          </a:bodyPr>
          <a:lstStyle/>
          <a:p>
            <a:r>
              <a:rPr lang="ko-KR" altLang="ko-KR" sz="1000" dirty="0" err="1"/>
              <a:t>학습률</a:t>
            </a:r>
            <a:r>
              <a:rPr lang="ko-KR" altLang="ko-KR" sz="1000" dirty="0"/>
              <a:t>(</a:t>
            </a:r>
            <a:r>
              <a:rPr lang="ko-KR" altLang="ko-KR" sz="1000" dirty="0" err="1"/>
              <a:t>Learning</a:t>
            </a:r>
            <a:r>
              <a:rPr lang="ko-KR" altLang="ko-KR" sz="1000" dirty="0"/>
              <a:t> </a:t>
            </a:r>
            <a:r>
              <a:rPr lang="ko-KR" altLang="ko-KR" sz="1000" dirty="0" err="1"/>
              <a:t>Rate</a:t>
            </a:r>
            <a:r>
              <a:rPr lang="ko-KR" altLang="ko-KR" sz="1000" dirty="0"/>
              <a:t>)을 0.0001로 설정</a:t>
            </a:r>
            <a:endParaRPr lang="en-US" altLang="ko-KR" sz="1000" dirty="0"/>
          </a:p>
          <a:p>
            <a:r>
              <a:rPr lang="ko-KR" altLang="ko-KR" sz="1000" dirty="0"/>
              <a:t>검증 성능이 10 </a:t>
            </a:r>
            <a:r>
              <a:rPr lang="ko-KR" altLang="ko-KR" sz="1000" dirty="0" err="1"/>
              <a:t>Epoch</a:t>
            </a:r>
            <a:r>
              <a:rPr lang="ko-KR" altLang="ko-KR" sz="1000" dirty="0"/>
              <a:t> 동안 개선되지 않으면 조기 종료</a:t>
            </a:r>
          </a:p>
          <a:p>
            <a:r>
              <a:rPr lang="ko-KR" altLang="ko-KR" sz="1000" dirty="0" err="1"/>
              <a:t>과적합</a:t>
            </a:r>
            <a:r>
              <a:rPr lang="ko-KR" altLang="ko-KR" sz="1000" dirty="0"/>
              <a:t> 방지를 위한 L2 정규화 강도 설정</a:t>
            </a:r>
            <a:endParaRPr lang="en-US" altLang="ko-KR" sz="1000" dirty="0"/>
          </a:p>
          <a:p>
            <a:r>
              <a:rPr lang="ko-KR" altLang="ko-KR" sz="1000" dirty="0"/>
              <a:t>초기 5 </a:t>
            </a:r>
            <a:r>
              <a:rPr lang="ko-KR" altLang="ko-KR" sz="1000" dirty="0" err="1"/>
              <a:t>Epoch</a:t>
            </a:r>
            <a:r>
              <a:rPr lang="ko-KR" altLang="ko-KR" sz="1000" dirty="0"/>
              <a:t> 동안 </a:t>
            </a:r>
            <a:r>
              <a:rPr lang="ko-KR" altLang="ko-KR" sz="1000" dirty="0" err="1"/>
              <a:t>학습률을</a:t>
            </a:r>
            <a:r>
              <a:rPr lang="ko-KR" altLang="ko-KR" sz="1000" dirty="0"/>
              <a:t> 점진적으로 증가</a:t>
            </a:r>
            <a:endParaRPr lang="en-US" altLang="ko-KR" sz="1000" dirty="0"/>
          </a:p>
          <a:p>
            <a:r>
              <a:rPr lang="ko-KR" altLang="ko-KR" sz="1000" dirty="0" err="1"/>
              <a:t>Label</a:t>
            </a:r>
            <a:r>
              <a:rPr lang="ko-KR" altLang="ko-KR" sz="1000" dirty="0"/>
              <a:t> </a:t>
            </a:r>
            <a:r>
              <a:rPr lang="ko-KR" altLang="ko-KR" sz="1000" dirty="0" err="1"/>
              <a:t>Smoothing이</a:t>
            </a:r>
            <a:r>
              <a:rPr lang="ko-KR" altLang="ko-KR" sz="1000" dirty="0"/>
              <a:t> 적용된 교차 엔트로피 손실 함수 정의</a:t>
            </a:r>
            <a:endParaRPr lang="en-US" altLang="ko-KR" sz="1000" dirty="0"/>
          </a:p>
          <a:p>
            <a:r>
              <a:rPr lang="ko-KR" altLang="ko-KR" sz="1000" dirty="0" err="1"/>
              <a:t>AdamW</a:t>
            </a:r>
            <a:r>
              <a:rPr lang="ko-KR" altLang="ko-KR" sz="1000" dirty="0"/>
              <a:t> </a:t>
            </a:r>
            <a:r>
              <a:rPr lang="ko-KR" altLang="ko-KR" sz="1000" dirty="0" err="1"/>
              <a:t>옵티마이저를</a:t>
            </a:r>
            <a:r>
              <a:rPr lang="ko-KR" altLang="ko-KR" sz="1000" dirty="0"/>
              <a:t> 사용하여 모델 파라미터 최적화</a:t>
            </a:r>
          </a:p>
          <a:p>
            <a:r>
              <a:rPr lang="ko-KR" altLang="ko-KR" sz="1000" dirty="0"/>
              <a:t>여러 </a:t>
            </a:r>
            <a:r>
              <a:rPr lang="ko-KR" altLang="ko-KR" sz="1000" dirty="0" err="1"/>
              <a:t>Learning</a:t>
            </a:r>
            <a:r>
              <a:rPr lang="ko-KR" altLang="ko-KR" sz="1000" dirty="0"/>
              <a:t> </a:t>
            </a:r>
            <a:r>
              <a:rPr lang="ko-KR" altLang="ko-KR" sz="1000" dirty="0" err="1"/>
              <a:t>Rate</a:t>
            </a:r>
            <a:r>
              <a:rPr lang="ko-KR" altLang="ko-KR" sz="1000" dirty="0"/>
              <a:t> </a:t>
            </a:r>
            <a:r>
              <a:rPr lang="ko-KR" altLang="ko-KR" sz="1000" dirty="0" err="1"/>
              <a:t>Scheduler를</a:t>
            </a:r>
            <a:r>
              <a:rPr lang="ko-KR" altLang="ko-KR" sz="1000" dirty="0"/>
              <a:t> 순차적으로 적용</a:t>
            </a:r>
          </a:p>
          <a:p>
            <a:r>
              <a:rPr lang="ko-KR" altLang="ko-KR" sz="1000" dirty="0" err="1"/>
              <a:t>학습률을</a:t>
            </a:r>
            <a:r>
              <a:rPr lang="ko-KR" altLang="ko-KR" sz="1000" dirty="0"/>
              <a:t> 조정할 </a:t>
            </a:r>
            <a:r>
              <a:rPr lang="ko-KR" altLang="ko-KR" sz="1000" dirty="0" err="1"/>
              <a:t>옵티마이저</a:t>
            </a:r>
            <a:r>
              <a:rPr lang="ko-KR" altLang="ko-KR" sz="1000" dirty="0"/>
              <a:t> 지정</a:t>
            </a:r>
          </a:p>
          <a:p>
            <a:r>
              <a:rPr lang="ko-KR" altLang="ko-KR" sz="1000" dirty="0"/>
              <a:t>사용할 </a:t>
            </a:r>
            <a:r>
              <a:rPr lang="ko-KR" altLang="ko-KR" sz="1000" dirty="0" err="1"/>
              <a:t>Scheduler</a:t>
            </a:r>
            <a:r>
              <a:rPr lang="ko-KR" altLang="ko-KR" sz="1000" dirty="0"/>
              <a:t> 목록 정의</a:t>
            </a:r>
          </a:p>
          <a:p>
            <a:r>
              <a:rPr lang="ko-KR" altLang="ko-KR" sz="1000" dirty="0" err="1"/>
              <a:t>Warm-up</a:t>
            </a:r>
            <a:r>
              <a:rPr lang="ko-KR" altLang="ko-KR" sz="1000" dirty="0"/>
              <a:t> 단계에서 </a:t>
            </a:r>
            <a:r>
              <a:rPr lang="ko-KR" altLang="ko-KR" sz="1000" dirty="0" err="1"/>
              <a:t>학습률을</a:t>
            </a:r>
            <a:r>
              <a:rPr lang="ko-KR" altLang="ko-KR" sz="1000" dirty="0"/>
              <a:t> 10% → 100%까지 증가</a:t>
            </a:r>
            <a:endParaRPr lang="en-US" altLang="ko-KR" sz="1000" dirty="0"/>
          </a:p>
          <a:p>
            <a:r>
              <a:rPr lang="ko-KR" altLang="ko-KR" sz="1000" dirty="0"/>
              <a:t>이후 </a:t>
            </a:r>
            <a:r>
              <a:rPr lang="ko-KR" altLang="ko-KR" sz="1000" dirty="0" err="1"/>
              <a:t>Cosine</a:t>
            </a:r>
            <a:r>
              <a:rPr lang="ko-KR" altLang="ko-KR" sz="1000" dirty="0"/>
              <a:t> </a:t>
            </a:r>
            <a:r>
              <a:rPr lang="ko-KR" altLang="ko-KR" sz="1000" dirty="0" err="1"/>
              <a:t>Annealing</a:t>
            </a:r>
            <a:r>
              <a:rPr lang="ko-KR" altLang="ko-KR" sz="1000" dirty="0"/>
              <a:t> 방식으로 </a:t>
            </a:r>
            <a:r>
              <a:rPr lang="ko-KR" altLang="ko-KR" sz="1000" dirty="0" err="1"/>
              <a:t>학습률을</a:t>
            </a:r>
            <a:r>
              <a:rPr lang="ko-KR" altLang="ko-KR" sz="1000" dirty="0"/>
              <a:t> 점진적으로 감소</a:t>
            </a:r>
            <a:endParaRPr lang="en-US" altLang="ko-KR" sz="1000" dirty="0"/>
          </a:p>
          <a:p>
            <a:r>
              <a:rPr lang="ko-KR" altLang="ko-KR" sz="1000" dirty="0"/>
              <a:t>5 </a:t>
            </a:r>
            <a:r>
              <a:rPr lang="ko-KR" altLang="ko-KR" sz="1000" dirty="0" err="1"/>
              <a:t>Epoch</a:t>
            </a:r>
            <a:r>
              <a:rPr lang="ko-KR" altLang="ko-KR" sz="1000" dirty="0"/>
              <a:t> 이후 </a:t>
            </a:r>
            <a:r>
              <a:rPr lang="ko-KR" altLang="ko-KR" sz="1000" dirty="0" err="1"/>
              <a:t>Warm-up에서</a:t>
            </a:r>
            <a:r>
              <a:rPr lang="ko-KR" altLang="ko-KR" sz="1000" dirty="0"/>
              <a:t> </a:t>
            </a:r>
            <a:r>
              <a:rPr lang="ko-KR" altLang="ko-KR" sz="1000" dirty="0" err="1"/>
              <a:t>Cosine</a:t>
            </a:r>
            <a:r>
              <a:rPr lang="ko-KR" altLang="ko-KR" sz="1000" dirty="0"/>
              <a:t> </a:t>
            </a:r>
            <a:r>
              <a:rPr lang="ko-KR" altLang="ko-KR" sz="1000" dirty="0" err="1"/>
              <a:t>Annealing으로</a:t>
            </a:r>
            <a:r>
              <a:rPr lang="ko-KR" altLang="ko-KR" sz="1000" dirty="0"/>
              <a:t> 전환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5696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A9E4B-736B-5887-8B55-E1D502DCA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 attention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3166173-2785-98AB-2948-A525BF574A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39679"/>
            <a:ext cx="5181600" cy="3523230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EAA466-B31F-A1EF-76CE-DCBFD2939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239679"/>
            <a:ext cx="5181600" cy="4351338"/>
          </a:xfrm>
        </p:spPr>
        <p:txBody>
          <a:bodyPr>
            <a:normAutofit/>
          </a:bodyPr>
          <a:lstStyle/>
          <a:p>
            <a:r>
              <a:rPr lang="ko-KR" altLang="ko-KR" sz="1000" dirty="0"/>
              <a:t>텍스트 특징을 공통 특징 공간으로 변환</a:t>
            </a:r>
            <a:endParaRPr lang="en-US" altLang="ko-KR" sz="1000" dirty="0"/>
          </a:p>
          <a:p>
            <a:r>
              <a:rPr lang="ko-KR" altLang="ko-KR" sz="1000" dirty="0" err="1"/>
              <a:t>모달</a:t>
            </a:r>
            <a:r>
              <a:rPr lang="ko-KR" altLang="ko-KR" sz="1000" dirty="0"/>
              <a:t> 종류를 구분하기 위한 학습 가능한 </a:t>
            </a:r>
            <a:r>
              <a:rPr lang="ko-KR" altLang="ko-KR" sz="1000" dirty="0" err="1"/>
              <a:t>임베딩</a:t>
            </a:r>
            <a:endParaRPr lang="en-US" altLang="ko-KR" sz="1000" dirty="0"/>
          </a:p>
          <a:p>
            <a:r>
              <a:rPr lang="ko-KR" altLang="ko-KR" sz="1000" dirty="0" err="1"/>
              <a:t>Modal</a:t>
            </a:r>
            <a:r>
              <a:rPr lang="ko-KR" altLang="ko-KR" sz="1000" dirty="0"/>
              <a:t> </a:t>
            </a:r>
            <a:r>
              <a:rPr lang="ko-KR" altLang="ko-KR" sz="1000" dirty="0" err="1"/>
              <a:t>Dropout</a:t>
            </a:r>
            <a:r>
              <a:rPr lang="ko-KR" altLang="ko-KR" sz="1000" dirty="0"/>
              <a:t> 확률 저장</a:t>
            </a:r>
            <a:endParaRPr lang="en-US" altLang="ko-KR" sz="1000" dirty="0"/>
          </a:p>
          <a:p>
            <a:r>
              <a:rPr lang="ko-KR" altLang="ko-KR" sz="1000" dirty="0" err="1"/>
              <a:t>모달</a:t>
            </a:r>
            <a:r>
              <a:rPr lang="ko-KR" altLang="ko-KR" sz="1000" dirty="0"/>
              <a:t> 간 관계를 학습하는 </a:t>
            </a:r>
            <a:r>
              <a:rPr lang="ko-KR" altLang="ko-KR" sz="1000" dirty="0" err="1"/>
              <a:t>Self-Attention</a:t>
            </a:r>
            <a:r>
              <a:rPr lang="en-US" altLang="ko-KR" sz="1000" dirty="0"/>
              <a:t>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r>
              <a:rPr lang="ko-KR" altLang="ko-KR" sz="1000" dirty="0" err="1"/>
              <a:t>Attention</a:t>
            </a:r>
            <a:r>
              <a:rPr lang="ko-KR" altLang="ko-KR" sz="1000" dirty="0"/>
              <a:t> 출력 정규화</a:t>
            </a:r>
            <a:endParaRPr lang="en-US" altLang="ko-KR" sz="1000" dirty="0"/>
          </a:p>
          <a:p>
            <a:r>
              <a:rPr lang="ko-KR" altLang="ko-KR" sz="1000" dirty="0"/>
              <a:t>특징 표현을 강화하는 </a:t>
            </a:r>
            <a:r>
              <a:rPr lang="ko-KR" altLang="ko-KR" sz="1000" dirty="0" err="1"/>
              <a:t>Feed</a:t>
            </a:r>
            <a:r>
              <a:rPr lang="ko-KR" altLang="ko-KR" sz="1000" dirty="0"/>
              <a:t> </a:t>
            </a:r>
            <a:r>
              <a:rPr lang="ko-KR" altLang="ko-KR" sz="1000" dirty="0" err="1"/>
              <a:t>Forward</a:t>
            </a:r>
            <a:r>
              <a:rPr lang="ko-KR" altLang="ko-KR" sz="1000" dirty="0"/>
              <a:t> Network</a:t>
            </a:r>
            <a:endParaRPr lang="en-US" altLang="ko-KR" sz="1000" dirty="0"/>
          </a:p>
          <a:p>
            <a:r>
              <a:rPr lang="ko-KR" altLang="ko-KR" sz="1000" dirty="0"/>
              <a:t>FFN 출력 정규화</a:t>
            </a:r>
            <a:endParaRPr lang="en-US" altLang="ko-KR" sz="1000" dirty="0"/>
          </a:p>
          <a:p>
            <a:r>
              <a:rPr lang="ko-KR" altLang="en-US" sz="1000" dirty="0"/>
              <a:t>분류기</a:t>
            </a:r>
            <a:endParaRPr lang="en-US" altLang="ko-KR" sz="1000" dirty="0"/>
          </a:p>
          <a:p>
            <a:endParaRPr lang="en-US" altLang="ko-KR" sz="600" dirty="0"/>
          </a:p>
          <a:p>
            <a:endParaRPr lang="en-US" altLang="ko-KR" sz="1000" dirty="0"/>
          </a:p>
          <a:p>
            <a:pPr marL="0" indent="0">
              <a:buNone/>
            </a:pPr>
            <a:endParaRPr lang="en-US" altLang="ko-KR" sz="1000" dirty="0"/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64786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02379-6F17-C82B-DD0C-64D774734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</a:t>
            </a:r>
            <a:r>
              <a:rPr lang="ko-KR" altLang="en-US" dirty="0"/>
              <a:t> </a:t>
            </a:r>
            <a:r>
              <a:rPr lang="en-US" altLang="ko-KR" dirty="0"/>
              <a:t>attention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D235C70-F7CD-D3CF-B0C7-E31FB88EC4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5181600" cy="1845580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EFFB6C-3C5F-81FC-B844-DD16DB1B3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68961"/>
            <a:ext cx="5181600" cy="5923914"/>
          </a:xfrm>
        </p:spPr>
        <p:txBody>
          <a:bodyPr>
            <a:normAutofit/>
          </a:bodyPr>
          <a:lstStyle/>
          <a:p>
            <a:r>
              <a:rPr lang="ko-KR" altLang="en-US" sz="1000" dirty="0"/>
              <a:t>각 </a:t>
            </a:r>
            <a:r>
              <a:rPr lang="ko-KR" altLang="en-US" sz="1000" dirty="0" err="1"/>
              <a:t>모달</a:t>
            </a:r>
            <a:r>
              <a:rPr lang="ko-KR" altLang="en-US" sz="1000" dirty="0"/>
              <a:t> 특징 인코딩 </a:t>
            </a:r>
            <a:endParaRPr lang="en-US" altLang="ko-KR" sz="1000" dirty="0"/>
          </a:p>
          <a:p>
            <a:r>
              <a:rPr lang="ko-KR" altLang="en-US" sz="1000" dirty="0"/>
              <a:t>학습 중이고 </a:t>
            </a:r>
            <a:r>
              <a:rPr lang="en-US" altLang="ko-KR" sz="1000" dirty="0" err="1"/>
              <a:t>dropou</a:t>
            </a:r>
            <a:r>
              <a:rPr lang="ko-KR" altLang="en-US" sz="1000" dirty="0"/>
              <a:t>이 </a:t>
            </a:r>
            <a:r>
              <a:rPr lang="en-US" altLang="ko-KR" sz="1000" dirty="0"/>
              <a:t>0</a:t>
            </a:r>
            <a:r>
              <a:rPr lang="ko-KR" altLang="en-US" sz="1000" dirty="0"/>
              <a:t>보다 클 때 </a:t>
            </a:r>
            <a:r>
              <a:rPr lang="en-US" altLang="ko-KR" sz="1000" dirty="0"/>
              <a:t>modal dropout </a:t>
            </a:r>
            <a:r>
              <a:rPr lang="ko-KR" altLang="en-US" sz="1000" dirty="0"/>
              <a:t>적용</a:t>
            </a:r>
            <a:endParaRPr lang="en-US" altLang="ko-KR" sz="1000" dirty="0"/>
          </a:p>
          <a:p>
            <a:r>
              <a:rPr lang="ko-KR" altLang="en-US" sz="1000" dirty="0"/>
              <a:t>각 </a:t>
            </a:r>
            <a:r>
              <a:rPr lang="ko-KR" altLang="en-US" sz="1000" dirty="0" err="1"/>
              <a:t>모달의</a:t>
            </a:r>
            <a:r>
              <a:rPr lang="ko-KR" altLang="en-US" sz="1000" dirty="0"/>
              <a:t> 유지 여부를 무작위로 결정</a:t>
            </a:r>
            <a:endParaRPr lang="en-US" altLang="ko-KR" sz="1000" dirty="0"/>
          </a:p>
          <a:p>
            <a:r>
              <a:rPr lang="ko-KR" altLang="en-US" sz="1000" dirty="0"/>
              <a:t>모든 </a:t>
            </a:r>
            <a:r>
              <a:rPr lang="ko-KR" altLang="en-US" sz="1000" dirty="0" err="1"/>
              <a:t>모달이</a:t>
            </a:r>
            <a:r>
              <a:rPr lang="ko-KR" altLang="en-US" sz="1000" dirty="0"/>
              <a:t> 제거되었는지 확인</a:t>
            </a:r>
            <a:endParaRPr lang="en-US" altLang="ko-KR" sz="1000" dirty="0"/>
          </a:p>
          <a:p>
            <a:r>
              <a:rPr lang="ko-KR" altLang="en-US" sz="1000" dirty="0"/>
              <a:t>최소 한 개 </a:t>
            </a:r>
            <a:r>
              <a:rPr lang="ko-KR" altLang="en-US" sz="1000" dirty="0" err="1"/>
              <a:t>모달은</a:t>
            </a:r>
            <a:r>
              <a:rPr lang="ko-KR" altLang="en-US" sz="1000" dirty="0"/>
              <a:t> 유지하도록 설정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/>
              <a:t>선택된 </a:t>
            </a:r>
            <a:r>
              <a:rPr lang="ko-KR" altLang="en-US" sz="1000" dirty="0" err="1"/>
              <a:t>모달만</a:t>
            </a:r>
            <a:r>
              <a:rPr lang="ko-KR" altLang="en-US" sz="1000" dirty="0"/>
              <a:t> 사용하도록 </a:t>
            </a:r>
            <a:r>
              <a:rPr lang="ko-KR" altLang="en-US" sz="1000" dirty="0" err="1"/>
              <a:t>마스킹</a:t>
            </a:r>
            <a:endParaRPr lang="en-US" altLang="ko-KR" sz="1000" dirty="0"/>
          </a:p>
          <a:p>
            <a:r>
              <a:rPr lang="ko-KR" altLang="en-US" sz="1000" dirty="0"/>
              <a:t>세 </a:t>
            </a:r>
            <a:r>
              <a:rPr lang="ko-KR" altLang="en-US" sz="1000" dirty="0" err="1"/>
              <a:t>모달</a:t>
            </a:r>
            <a:r>
              <a:rPr lang="ko-KR" altLang="en-US" sz="1000" dirty="0"/>
              <a:t> 결합 후 </a:t>
            </a:r>
            <a:r>
              <a:rPr lang="ko-KR" altLang="en-US" sz="1000" dirty="0" err="1"/>
              <a:t>포지셔널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임베딩</a:t>
            </a:r>
            <a:r>
              <a:rPr lang="ko-KR" altLang="en-US" sz="1000" dirty="0"/>
              <a:t> 추가</a:t>
            </a:r>
            <a:endParaRPr lang="en-US" altLang="ko-KR" sz="1000" dirty="0"/>
          </a:p>
          <a:p>
            <a:r>
              <a:rPr lang="ko-KR" altLang="ko-KR" sz="1000" dirty="0" err="1"/>
              <a:t>Self-Attention으로</a:t>
            </a:r>
            <a:r>
              <a:rPr lang="ko-KR" altLang="ko-KR" sz="1000" dirty="0"/>
              <a:t> 학습</a:t>
            </a:r>
            <a:endParaRPr lang="en-US" altLang="ko-KR" sz="1000" dirty="0"/>
          </a:p>
          <a:p>
            <a:r>
              <a:rPr lang="ko-KR" altLang="ko-KR" sz="1000" dirty="0" err="1"/>
              <a:t>Residual</a:t>
            </a:r>
            <a:r>
              <a:rPr lang="ko-KR" altLang="ko-KR" sz="1000" dirty="0"/>
              <a:t> </a:t>
            </a:r>
            <a:r>
              <a:rPr lang="ko-KR" altLang="ko-KR" sz="1000" dirty="0" err="1"/>
              <a:t>Connection</a:t>
            </a:r>
            <a:r>
              <a:rPr lang="ko-KR" altLang="ko-KR" sz="1000" dirty="0"/>
              <a:t> 및 정규화</a:t>
            </a:r>
            <a:endParaRPr lang="en-US" altLang="ko-KR" sz="1000" dirty="0"/>
          </a:p>
          <a:p>
            <a:r>
              <a:rPr lang="ko-KR" altLang="ko-KR" sz="1000" dirty="0"/>
              <a:t>FFN 적용 후 정규화</a:t>
            </a:r>
            <a:endParaRPr lang="en-US" altLang="ko-KR" sz="1000" dirty="0"/>
          </a:p>
          <a:p>
            <a:r>
              <a:rPr lang="ko-KR" altLang="ko-KR" sz="1000" dirty="0"/>
              <a:t>세 </a:t>
            </a:r>
            <a:r>
              <a:rPr lang="ko-KR" altLang="ko-KR" sz="1000" dirty="0" err="1"/>
              <a:t>모달</a:t>
            </a:r>
            <a:r>
              <a:rPr lang="ko-KR" altLang="ko-KR" sz="1000" dirty="0"/>
              <a:t> 특징을 하나의 벡터로 펼침</a:t>
            </a:r>
            <a:endParaRPr lang="en-US" altLang="ko-KR" sz="1000" dirty="0"/>
          </a:p>
          <a:p>
            <a:r>
              <a:rPr lang="ko-KR" altLang="ko-KR" sz="1000" dirty="0"/>
              <a:t>최종 클래스 예측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ko-KR" sz="1000" dirty="0" err="1"/>
              <a:t>Warm-up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Cosine</a:t>
            </a:r>
            <a:r>
              <a:rPr lang="ko-KR" altLang="ko-KR" sz="1000" dirty="0"/>
              <a:t> </a:t>
            </a:r>
            <a:r>
              <a:rPr lang="ko-KR" altLang="ko-KR" sz="1000" dirty="0" err="1"/>
              <a:t>Annealing</a:t>
            </a:r>
            <a:r>
              <a:rPr lang="ko-KR" altLang="ko-KR" sz="1000" dirty="0"/>
              <a:t> 스케줄러 생성 함수</a:t>
            </a:r>
            <a:endParaRPr lang="en-US" altLang="ko-KR" sz="1000" dirty="0"/>
          </a:p>
          <a:p>
            <a:r>
              <a:rPr lang="ko-KR" altLang="ko-KR" sz="1000" dirty="0"/>
              <a:t>현재 </a:t>
            </a:r>
            <a:r>
              <a:rPr lang="ko-KR" altLang="ko-KR" sz="1000" dirty="0" err="1"/>
              <a:t>Epoch가</a:t>
            </a:r>
            <a:r>
              <a:rPr lang="ko-KR" altLang="ko-KR" sz="1000" dirty="0"/>
              <a:t> </a:t>
            </a:r>
            <a:r>
              <a:rPr lang="ko-KR" altLang="ko-KR" sz="1000" dirty="0" err="1"/>
              <a:t>Warm-up</a:t>
            </a:r>
            <a:r>
              <a:rPr lang="ko-KR" altLang="ko-KR" sz="1000" dirty="0"/>
              <a:t> 구간인지 확인</a:t>
            </a:r>
            <a:endParaRPr lang="en-US" altLang="ko-KR" sz="1000" dirty="0"/>
          </a:p>
          <a:p>
            <a:r>
              <a:rPr lang="ko-KR" altLang="ko-KR" sz="1000" dirty="0" err="1"/>
              <a:t>학습률을</a:t>
            </a:r>
            <a:r>
              <a:rPr lang="ko-KR" altLang="ko-KR" sz="1000" dirty="0"/>
              <a:t> 선형적으로 증가</a:t>
            </a:r>
            <a:endParaRPr lang="en-US" altLang="ko-KR" sz="1000" dirty="0"/>
          </a:p>
          <a:p>
            <a:r>
              <a:rPr lang="ko-KR" altLang="ko-KR" sz="1000" dirty="0" err="1"/>
              <a:t>Warm-up</a:t>
            </a:r>
            <a:r>
              <a:rPr lang="ko-KR" altLang="ko-KR" sz="1000" dirty="0"/>
              <a:t> 이후 학습 진행률 계산</a:t>
            </a:r>
            <a:endParaRPr lang="en-US" altLang="ko-KR" sz="1000" dirty="0"/>
          </a:p>
          <a:p>
            <a:r>
              <a:rPr lang="ko-KR" altLang="ko-KR" sz="1000" dirty="0" err="1"/>
              <a:t>Cosine</a:t>
            </a:r>
            <a:r>
              <a:rPr lang="ko-KR" altLang="ko-KR" sz="1000" dirty="0"/>
              <a:t> 함수를 이용해 </a:t>
            </a:r>
            <a:r>
              <a:rPr lang="ko-KR" altLang="ko-KR" sz="1000" dirty="0" err="1"/>
              <a:t>학습률을</a:t>
            </a:r>
            <a:r>
              <a:rPr lang="ko-KR" altLang="ko-KR" sz="1000" dirty="0"/>
              <a:t> 점진적으로 감소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dirty="0" err="1"/>
              <a:t>옵티마이저</a:t>
            </a:r>
            <a:r>
              <a:rPr lang="ko-KR" altLang="en-US" sz="1000" dirty="0"/>
              <a:t> </a:t>
            </a:r>
            <a:r>
              <a:rPr lang="en-US" altLang="ko-KR" sz="1000" dirty="0" err="1"/>
              <a:t>adamw</a:t>
            </a:r>
            <a:r>
              <a:rPr lang="ko-KR" altLang="en-US" sz="1000" dirty="0"/>
              <a:t>로 설정 </a:t>
            </a:r>
            <a:r>
              <a:rPr lang="en-US" altLang="ko-KR" sz="1000" dirty="0"/>
              <a:t>, </a:t>
            </a:r>
            <a:r>
              <a:rPr lang="ko-KR" altLang="en-US" sz="1000" dirty="0"/>
              <a:t>미리 정해둔 </a:t>
            </a:r>
            <a:r>
              <a:rPr lang="en-US" altLang="ko-KR" sz="1000" dirty="0" err="1"/>
              <a:t>lr</a:t>
            </a:r>
            <a:r>
              <a:rPr lang="en-US" altLang="ko-KR" sz="1000" dirty="0"/>
              <a:t>, </a:t>
            </a:r>
            <a:r>
              <a:rPr lang="en-US" altLang="ko-KR" sz="1000" dirty="0" err="1"/>
              <a:t>weight_decay</a:t>
            </a:r>
            <a:r>
              <a:rPr lang="en-US" altLang="ko-KR" sz="1000" dirty="0"/>
              <a:t> </a:t>
            </a:r>
            <a:r>
              <a:rPr lang="ko-KR" altLang="en-US" sz="1000" dirty="0"/>
              <a:t>값으로 설정</a:t>
            </a:r>
            <a:r>
              <a:rPr lang="en-US" altLang="ko-KR" sz="1000" dirty="0"/>
              <a:t>(5e-5, 1e-3)</a:t>
            </a:r>
          </a:p>
          <a:p>
            <a:endParaRPr lang="en-US" altLang="ko-KR" sz="1000" dirty="0"/>
          </a:p>
          <a:p>
            <a:endParaRPr lang="en-US" altLang="ko-KR" sz="1000" dirty="0"/>
          </a:p>
          <a:p>
            <a:endParaRPr lang="ko-KR" altLang="en-US" sz="1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ECD4313-EE11-9AAB-2C53-E29C2EADF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71205"/>
            <a:ext cx="5181600" cy="18985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0E96D9D-1767-6F1A-000C-EE1BBABD0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69762"/>
            <a:ext cx="3581400" cy="101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9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519</Words>
  <Application>Microsoft Office PowerPoint</Application>
  <PresentationFormat>와이드스크린</PresentationFormat>
  <Paragraphs>100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concat</vt:lpstr>
      <vt:lpstr>GCN</vt:lpstr>
      <vt:lpstr>GCN</vt:lpstr>
      <vt:lpstr>Cross attention</vt:lpstr>
      <vt:lpstr>Cross attention</vt:lpstr>
      <vt:lpstr>Cross attention</vt:lpstr>
      <vt:lpstr>Self attention</vt:lpstr>
      <vt:lpstr>Self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유지인</dc:creator>
  <cp:lastModifiedBy>유지인</cp:lastModifiedBy>
  <cp:revision>3</cp:revision>
  <dcterms:created xsi:type="dcterms:W3CDTF">2026-06-07T14:29:45Z</dcterms:created>
  <dcterms:modified xsi:type="dcterms:W3CDTF">2026-06-08T00:52:25Z</dcterms:modified>
</cp:coreProperties>
</file>